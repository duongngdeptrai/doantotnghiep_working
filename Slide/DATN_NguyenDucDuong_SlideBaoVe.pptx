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552" y="6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C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4" name="Picture 3" descr="hus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324" y="320040"/>
            <a:ext cx="633046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207008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 dirty="0">
                <a:solidFill>
                  <a:srgbClr val="FFCB09"/>
                </a:solidFill>
                <a:latin typeface="Calibri"/>
              </a:rPr>
              <a:t>TRƯỜNG ĐẠI HỌC BÁCH KHOA HÀ NỘI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90472"/>
            <a:ext cx="10332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 dirty="0">
                <a:solidFill>
                  <a:srgbClr val="B9CBD8"/>
                </a:solidFill>
                <a:latin typeface="Calibri"/>
              </a:rPr>
              <a:t>HANOI UNIVERSITY OF SCIENCE AND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3852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 dirty="0">
                <a:solidFill>
                  <a:srgbClr val="FFCB09"/>
                </a:solidFill>
                <a:latin typeface="Calibri"/>
              </a:rPr>
              <a:t>ĐỒ ÁN TỐT NGHIỆP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95728"/>
            <a:ext cx="103327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 b="1" i="0" dirty="0">
                <a:solidFill>
                  <a:srgbClr val="FFFFFF"/>
                </a:solidFill>
                <a:latin typeface="Calibri"/>
              </a:rPr>
              <a:t>HỆ THỐNG THEO DÕI VỊ TRÍ TRẺ EM</a:t>
            </a:r>
          </a:p>
          <a:p>
            <a:pPr algn="ctr">
              <a:lnSpc>
                <a:spcPct val="110000"/>
              </a:lnSpc>
            </a:pPr>
            <a:r>
              <a:rPr sz="3400" b="1" i="0" dirty="0">
                <a:solidFill>
                  <a:srgbClr val="FFFFFF"/>
                </a:solidFill>
                <a:latin typeface="Calibri"/>
              </a:rPr>
              <a:t>THEO THỜI GIAN THỰC</a:t>
            </a:r>
          </a:p>
        </p:txBody>
      </p:sp>
      <p:sp>
        <p:nvSpPr>
          <p:cNvPr id="9" name="Rectangle 8"/>
          <p:cNvSpPr/>
          <p:nvPr/>
        </p:nvSpPr>
        <p:spPr>
          <a:xfrm>
            <a:off x="5184648" y="3794760"/>
            <a:ext cx="1828800" cy="32004"/>
          </a:xfrm>
          <a:prstGeom prst="rect">
            <a:avLst/>
          </a:prstGeom>
          <a:solidFill>
            <a:srgbClr val="FFC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371600" y="3950208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 dirty="0" err="1">
                <a:solidFill>
                  <a:srgbClr val="B9CBD8"/>
                </a:solidFill>
                <a:latin typeface="Calibri"/>
              </a:rPr>
              <a:t>Thiết</a:t>
            </a:r>
            <a:r>
              <a:rPr sz="1500" b="0" i="0">
                <a:solidFill>
                  <a:srgbClr val="B9CBD8"/>
                </a:solidFill>
                <a:latin typeface="Calibri"/>
              </a:rPr>
              <a:t> bị IoT (ESP32 + SIM7600)  ·  Backend FastAPI + MongoDB  ·  Ứng dụng di động Flutter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4434840"/>
            <a:ext cx="5486400" cy="1417320"/>
          </a:xfrm>
          <a:prstGeom prst="roundRect">
            <a:avLst>
              <a:gd name="adj" fmla="val 12000"/>
            </a:avLst>
          </a:prstGeom>
          <a:solidFill>
            <a:srgbClr val="9E1D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55848" y="459028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Sinh viên thực hiện: Nguyễn Đức Dương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490118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B9CBD8"/>
                </a:solidFill>
                <a:latin typeface="Calibri"/>
              </a:rPr>
              <a:t>MSSV: 20225122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52303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B9CBD8"/>
                </a:solidFill>
                <a:latin typeface="Calibri"/>
              </a:rPr>
              <a:t>Giảng viên hướng dẫn: PGS.TS. Tạ Hải Tùng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55412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CA3B3"/>
                </a:solidFill>
                <a:latin typeface="Calibri"/>
              </a:rPr>
              <a:t>Trường Công nghệ Thông tin và Truyền thông – Đại học Bách khoa Hà Nội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309360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F8799"/>
                </a:solidFill>
                <a:latin typeface="Calibri"/>
              </a:rPr>
              <a:t>07/2026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4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hus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354" y="219456"/>
            <a:ext cx="295421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4151C"/>
                </a:solidFill>
                <a:latin typeface="Calibri"/>
              </a:rPr>
              <a:t>01  ĐẶT VẤN ĐỀ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C4151C"/>
                </a:solidFill>
                <a:latin typeface="Calibri"/>
              </a:rPr>
              <a:t>Đặt vấn đề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548640" cy="45720"/>
          </a:xfrm>
          <a:prstGeom prst="rect">
            <a:avLst/>
          </a:prstGeom>
          <a:solidFill>
            <a:srgbClr val="FFC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7299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HỆ THỐNG THEO DÕI VỊ TRÍ TRẺ EM THEO THỜI GIAN THỰC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72998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6949440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-201168">
              <a:lnSpc>
                <a:spcPct val="108000"/>
              </a:lnSpc>
              <a:spcAft>
                <a:spcPts val="1600"/>
              </a:spcAft>
              <a:buClr>
                <a:srgbClr val="333333"/>
              </a:buClr>
              <a:buFont typeface="Calibri"/>
              <a:buChar char="—"/>
            </a:pPr>
            <a:r>
              <a:rPr sz="1700" b="0">
                <a:solidFill>
                  <a:srgbClr val="222222"/>
                </a:solidFill>
                <a:latin typeface="Calibri"/>
              </a:rPr>
              <a:t>An toàn trẻ em là mối quan tâm hàng đầu của các bậc phụ huynh trong xã hội hiện đại</a:t>
            </a:r>
          </a:p>
          <a:p>
            <a:pPr marL="0" indent="-201168">
              <a:lnSpc>
                <a:spcPct val="108000"/>
              </a:lnSpc>
              <a:spcAft>
                <a:spcPts val="1600"/>
              </a:spcAft>
              <a:buClr>
                <a:srgbClr val="333333"/>
              </a:buClr>
              <a:buFont typeface="Calibri"/>
              <a:buChar char="—"/>
            </a:pPr>
            <a:r>
              <a:rPr sz="1700" b="0">
                <a:solidFill>
                  <a:srgbClr val="222222"/>
                </a:solidFill>
                <a:latin typeface="Calibri"/>
              </a:rPr>
              <a:t>Hàng nghìn trường hợp trẻ lạc, mất tích hoặc gặp tai nạn mỗi năm tại các đô thị lớn (Cục Trẻ em – Bộ LĐ-TB&amp;XH)</a:t>
            </a:r>
          </a:p>
          <a:p>
            <a:pPr marL="0" indent="-201168">
              <a:lnSpc>
                <a:spcPct val="108000"/>
              </a:lnSpc>
              <a:spcAft>
                <a:spcPts val="1600"/>
              </a:spcAft>
              <a:buClr>
                <a:srgbClr val="333333"/>
              </a:buClr>
              <a:buFont typeface="Calibri"/>
              <a:buChar char="—"/>
            </a:pPr>
            <a:r>
              <a:rPr sz="1700" b="0">
                <a:solidFill>
                  <a:srgbClr val="222222"/>
                </a:solidFill>
                <a:latin typeface="Calibri"/>
              </a:rPr>
              <a:t>Trẻ tiểu học / THCS đã di chuyển độc lập nhưng chưa đủ nhận thức để tự bảo vệ bản thân</a:t>
            </a:r>
          </a:p>
          <a:p>
            <a:pPr marL="0" indent="-201168">
              <a:lnSpc>
                <a:spcPct val="108000"/>
              </a:lnSpc>
              <a:spcAft>
                <a:spcPts val="1600"/>
              </a:spcAft>
              <a:buClr>
                <a:srgbClr val="333333"/>
              </a:buClr>
              <a:buFont typeface="Calibri"/>
              <a:buChar char="—"/>
            </a:pPr>
            <a:r>
              <a:rPr sz="1700" b="0">
                <a:solidFill>
                  <a:srgbClr val="222222"/>
                </a:solidFill>
                <a:latin typeface="Calibri"/>
              </a:rPr>
              <a:t>Phụ huynh thường chỉ phát hiện sự cố khi đã quá muộn để xử lý kịp thời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120640"/>
            <a:ext cx="6949440" cy="109728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5257800"/>
            <a:ext cx="6400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FFFFF"/>
                </a:solidFill>
                <a:latin typeface="Calibri"/>
              </a:rPr>
              <a:t>→ Cần theo dõi vị trí thời gian thực, kết hợp cảnh báo tự động</a:t>
            </a:r>
          </a:p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FFFFF"/>
                </a:solidFill>
                <a:latin typeface="Calibri"/>
              </a:rPr>
              <a:t>khi trẻ rời khỏi vùng an toàn đã định trước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600200"/>
            <a:ext cx="3913632" cy="461772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0" y="1600200"/>
            <a:ext cx="64008" cy="461772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0" y="1764792"/>
            <a:ext cx="34564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22222"/>
                </a:solidFill>
                <a:latin typeface="Calibri"/>
              </a:rPr>
              <a:t>Cơ hội công nghệ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194560"/>
            <a:ext cx="3410712" cy="3886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333333"/>
              </a:buClr>
              <a:buFont typeface="Calibri"/>
              <a:buChar char="—"/>
            </a:pPr>
            <a:r>
              <a:rPr sz="1400" b="0">
                <a:solidFill>
                  <a:srgbClr val="222222"/>
                </a:solidFill>
                <a:latin typeface="Calibri"/>
              </a:rPr>
              <a:t>IoT + hạ tầng viễn thông di động phát triển mạnh những năm gần đây</a:t>
            </a: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333333"/>
              </a:buClr>
              <a:buFont typeface="Calibri"/>
              <a:buChar char="—"/>
            </a:pPr>
            <a:r>
              <a:rPr sz="1400" b="0">
                <a:solidFill>
                  <a:srgbClr val="222222"/>
                </a:solidFill>
                <a:latin typeface="Calibri"/>
              </a:rPr>
              <a:t>Cho phép xây dựng thiết bị định vị nhỏ gọn, chi phí thấp, hoạt động độc lập</a:t>
            </a: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333333"/>
              </a:buClr>
              <a:buFont typeface="Calibri"/>
              <a:buChar char="—"/>
            </a:pPr>
            <a:r>
              <a:rPr sz="1400" b="0">
                <a:solidFill>
                  <a:srgbClr val="222222"/>
                </a:solidFill>
                <a:latin typeface="Calibri"/>
              </a:rPr>
              <a:t>Có thể mở rộng: giám sát người cao tuổi, quản lý học sinh dã ngoại, theo dõi tài sản di động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4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hus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354" y="219456"/>
            <a:ext cx="295421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4151C"/>
                </a:solidFill>
                <a:latin typeface="Calibri"/>
              </a:rPr>
              <a:t>01  ĐẶT VẤN ĐỀ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C4151C"/>
                </a:solidFill>
                <a:latin typeface="Calibri"/>
              </a:rPr>
              <a:t>Giải pháp hiện có và hạn chế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548640" cy="45720"/>
          </a:xfrm>
          <a:prstGeom prst="rect">
            <a:avLst/>
          </a:prstGeom>
          <a:solidFill>
            <a:srgbClr val="FFC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7299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HỆ THỐNG THEO DÕI VỊ TRÍ TRẺ EM THEO THỜI GIAN THỰC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72998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600200"/>
          <a:ext cx="11201399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9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71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8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04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661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Tiêu chí</a:t>
                      </a:r>
                    </a:p>
                  </a:txBody>
                  <a:tcPr marL="73152" marR="73152" marT="36576" marB="36576" anchor="ctr"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Life360</a:t>
                      </a:r>
                    </a:p>
                  </a:txBody>
                  <a:tcPr marL="73152" marR="73152" marT="36576" marB="36576" anchor="ctr"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AirTag</a:t>
                      </a:r>
                    </a:p>
                  </a:txBody>
                  <a:tcPr marL="73152" marR="73152" marT="36576" marB="36576" anchor="ctr"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GPS Tracker
thương mại</a:t>
                      </a:r>
                    </a:p>
                  </a:txBody>
                  <a:tcPr marL="73152" marR="73152" marT="36576" marB="36576" anchor="ctr"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Đề tài này</a:t>
                      </a:r>
                    </a:p>
                  </a:txBody>
                  <a:tcPr marL="73152" marR="73152" marT="36576" marB="36576" anchor="ctr">
                    <a:solidFill>
                      <a:srgbClr val="2B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Không cần điện thoại trẻ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Không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Có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Có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33333"/>
                          </a:solidFill>
                          <a:latin typeface="Calibri"/>
                        </a:rPr>
                        <a:t>Có</a:t>
                      </a:r>
                    </a:p>
                  </a:txBody>
                  <a:tcPr marL="73152" marR="73152" marT="27432" marB="27432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Theo dõi thời gian thực</a:t>
                      </a:r>
                    </a:p>
                  </a:txBody>
                  <a:tcPr marL="73152" marR="73152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Có</a:t>
                      </a:r>
                    </a:p>
                  </a:txBody>
                  <a:tcPr marL="73152" marR="73152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Không</a:t>
                      </a:r>
                    </a:p>
                  </a:txBody>
                  <a:tcPr marL="73152" marR="73152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Có</a:t>
                      </a:r>
                    </a:p>
                  </a:txBody>
                  <a:tcPr marL="73152" marR="73152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33333"/>
                          </a:solidFill>
                          <a:latin typeface="Calibri"/>
                        </a:rPr>
                        <a:t>Có</a:t>
                      </a:r>
                    </a:p>
                  </a:txBody>
                  <a:tcPr marL="73152" marR="73152" marT="27432" marB="27432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Geofence tự động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Có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Không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Hạn chế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33333"/>
                          </a:solidFill>
                          <a:latin typeface="Calibri"/>
                        </a:rPr>
                        <a:t>Có</a:t>
                      </a:r>
                    </a:p>
                  </a:txBody>
                  <a:tcPr marL="73152" marR="73152" marT="27432" marB="27432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Cảnh báo đa kênh</a:t>
                      </a:r>
                    </a:p>
                  </a:txBody>
                  <a:tcPr marL="73152" marR="73152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Có</a:t>
                      </a:r>
                    </a:p>
                  </a:txBody>
                  <a:tcPr marL="73152" marR="73152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Không</a:t>
                      </a:r>
                    </a:p>
                  </a:txBody>
                  <a:tcPr marL="73152" marR="73152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Hạn chế</a:t>
                      </a:r>
                    </a:p>
                  </a:txBody>
                  <a:tcPr marL="73152" marR="73152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33333"/>
                          </a:solidFill>
                          <a:latin typeface="Calibri"/>
                        </a:rPr>
                        <a:t>Có</a:t>
                      </a:r>
                    </a:p>
                  </a:txBody>
                  <a:tcPr marL="73152" marR="73152" marT="27432" marB="27432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Chi phí vận hành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Miễn phí / thuê bao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Một lần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Thuê bao hàng tháng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33333"/>
                          </a:solidFill>
                          <a:latin typeface="Calibri"/>
                        </a:rPr>
                        <a:t>Thấp (chỉ SIM data)</a:t>
                      </a:r>
                    </a:p>
                  </a:txBody>
                  <a:tcPr marL="73152" marR="73152" marT="27432" marB="27432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Khả năng tùy chỉnh</a:t>
                      </a:r>
                    </a:p>
                  </a:txBody>
                  <a:tcPr marL="73152" marR="73152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Thấp</a:t>
                      </a:r>
                    </a:p>
                  </a:txBody>
                  <a:tcPr marL="73152" marR="73152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Rất thấp</a:t>
                      </a:r>
                    </a:p>
                  </a:txBody>
                  <a:tcPr marL="73152" marR="73152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22222"/>
                          </a:solidFill>
                          <a:latin typeface="Calibri"/>
                        </a:rPr>
                        <a:t>Thấp</a:t>
                      </a:r>
                    </a:p>
                  </a:txBody>
                  <a:tcPr marL="73152" marR="73152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333333"/>
                          </a:solidFill>
                          <a:latin typeface="Calibri"/>
                        </a:rPr>
                        <a:t>Cao</a:t>
                      </a:r>
                    </a:p>
                  </a:txBody>
                  <a:tcPr marL="73152" marR="73152" marT="27432" marB="27432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5943600"/>
            <a:ext cx="11201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1">
                <a:solidFill>
                  <a:srgbClr val="595959"/>
                </a:solidFill>
                <a:latin typeface="Calibri"/>
              </a:rPr>
              <a:t>Hạn chế chung: phụ thuộc điện thoại của trẻ · không theo dõi liên tục thời gian thực · chi phí vận hành cao · khả năng tùy biến thấp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4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hus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354" y="219456"/>
            <a:ext cx="295421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4151C"/>
                </a:solidFill>
                <a:latin typeface="Calibri"/>
              </a:rPr>
              <a:t>01  ĐẶT VẤN ĐỀ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C4151C"/>
                </a:solidFill>
                <a:latin typeface="Calibri"/>
              </a:rPr>
              <a:t>Mục tiêu và phạm vi đề tài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548640" cy="45720"/>
          </a:xfrm>
          <a:prstGeom prst="rect">
            <a:avLst/>
          </a:prstGeom>
          <a:solidFill>
            <a:srgbClr val="FFC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7299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HỆ THỐNG THEO DÕI VỊ TRÍ TRẺ EM THEO THỜI GIAN THỰC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72998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00200"/>
            <a:ext cx="5440680" cy="338328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600200"/>
            <a:ext cx="64008" cy="338328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764792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22222"/>
                </a:solidFill>
                <a:latin typeface="Calibri"/>
              </a:rPr>
              <a:t>Mục tiêu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194560"/>
            <a:ext cx="493776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333333"/>
              </a:buClr>
              <a:buFont typeface="Calibri"/>
              <a:buChar char="—"/>
            </a:pPr>
            <a:r>
              <a:rPr sz="1500" b="0">
                <a:solidFill>
                  <a:srgbClr val="222222"/>
                </a:solidFill>
                <a:latin typeface="Calibri"/>
              </a:rPr>
              <a:t>Thiết bị IoT chuyên dụng hoạt động độc lập, không cần điện thoại của trẻ</a:t>
            </a: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333333"/>
              </a:buClr>
              <a:buFont typeface="Calibri"/>
              <a:buChar char="—"/>
            </a:pPr>
            <a:r>
              <a:rPr sz="1500" b="0">
                <a:solidFill>
                  <a:srgbClr val="222222"/>
                </a:solidFill>
                <a:latin typeface="Calibri"/>
              </a:rPr>
              <a:t>Backend xử lý và lưu trữ dữ liệu vị trí thời gian thực</a:t>
            </a: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333333"/>
              </a:buClr>
              <a:buFont typeface="Calibri"/>
              <a:buChar char="—"/>
            </a:pPr>
            <a:r>
              <a:rPr sz="1500" b="0">
                <a:solidFill>
                  <a:srgbClr val="222222"/>
                </a:solidFill>
                <a:latin typeface="Calibri"/>
              </a:rPr>
              <a:t>Ứng dụng di động: xem bản đồ, thiết lập geofence, nhận cảnh báo tức thì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00200"/>
            <a:ext cx="5440680" cy="338328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600200"/>
            <a:ext cx="64008" cy="338328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1764792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22222"/>
                </a:solidFill>
                <a:latin typeface="Calibri"/>
              </a:rPr>
              <a:t>Phạm 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94560"/>
            <a:ext cx="493776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595959"/>
              </a:buClr>
              <a:buFont typeface="Calibri"/>
              <a:buChar char="—"/>
            </a:pPr>
            <a:r>
              <a:rPr sz="1500" b="0">
                <a:solidFill>
                  <a:srgbClr val="222222"/>
                </a:solidFill>
                <a:latin typeface="Calibri"/>
              </a:rPr>
              <a:t>Xây dựng nguyên mẫu hoàn chỉnh, có khả năng vận hành thực tế</a:t>
            </a: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595959"/>
              </a:buClr>
              <a:buFont typeface="Calibri"/>
              <a:buChar char="—"/>
            </a:pPr>
            <a:r>
              <a:rPr sz="1500" b="0">
                <a:solidFill>
                  <a:srgbClr val="222222"/>
                </a:solidFill>
                <a:latin typeface="Calibri"/>
              </a:rPr>
              <a:t>Bao gồm: thiết kế phần cứng, firmware, backend, ứng dụng di động</a:t>
            </a: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595959"/>
              </a:buClr>
              <a:buFont typeface="Calibri"/>
              <a:buChar char="—"/>
            </a:pPr>
            <a:r>
              <a:rPr sz="1500" b="0">
                <a:solidFill>
                  <a:srgbClr val="222222"/>
                </a:solidFill>
                <a:latin typeface="Calibri"/>
              </a:rPr>
              <a:t>Không bao gồm: thiết kế PCB tùy chỉnh, đóng gói sản phẩm thương mại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257800"/>
            <a:ext cx="11155680" cy="960120"/>
          </a:xfrm>
          <a:prstGeom prst="roundRect">
            <a:avLst>
              <a:gd name="adj" fmla="val 1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534924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&lt; 5s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76072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Độ trễ end-to-end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534924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~3,2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576072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Độ chính xác GPS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534924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5s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576072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Chu kỳ cập nhật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4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hus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354" y="219456"/>
            <a:ext cx="295421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4151C"/>
                </a:solidFill>
                <a:latin typeface="Calibri"/>
              </a:rPr>
              <a:t>02  KIẾN TRÚC &amp; THIẾT KẾ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C4151C"/>
                </a:solidFill>
                <a:latin typeface="Calibri"/>
              </a:rPr>
              <a:t>Kiến trúc tổng thể hệ thống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548640" cy="45720"/>
          </a:xfrm>
          <a:prstGeom prst="rect">
            <a:avLst/>
          </a:prstGeom>
          <a:solidFill>
            <a:srgbClr val="FFC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7299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HỆ THỐNG THEO DÕI VỊ TRÍ TRẺ EM THEO THỜI GIAN THỰC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72998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20208" y="1562100"/>
            <a:ext cx="9766822" cy="3322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kientruc_tongth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308" y="1600200"/>
            <a:ext cx="9690622" cy="3246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5074920"/>
            <a:ext cx="106984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-201168">
              <a:lnSpc>
                <a:spcPct val="108000"/>
              </a:lnSpc>
              <a:spcAft>
                <a:spcPts val="600"/>
              </a:spcAft>
              <a:buClr>
                <a:srgbClr val="333333"/>
              </a:buClr>
              <a:buFont typeface="Calibri"/>
              <a:buChar char="—"/>
            </a:pPr>
            <a:r>
              <a:rPr sz="1500" b="0">
                <a:solidFill>
                  <a:srgbClr val="222222"/>
                </a:solidFill>
                <a:latin typeface="Calibri"/>
              </a:rPr>
              <a:t>Ba tầng: Thiết bị IoT — Backend xử lý — Ứng dụng di động cho phụ huynh</a:t>
            </a:r>
          </a:p>
          <a:p>
            <a:pPr marL="0" indent="-201168">
              <a:lnSpc>
                <a:spcPct val="108000"/>
              </a:lnSpc>
              <a:spcAft>
                <a:spcPts val="600"/>
              </a:spcAft>
              <a:buClr>
                <a:srgbClr val="333333"/>
              </a:buClr>
              <a:buFont typeface="Calibri"/>
              <a:buChar char="—"/>
            </a:pPr>
            <a:r>
              <a:rPr sz="1500" b="0">
                <a:solidFill>
                  <a:srgbClr val="222222"/>
                </a:solidFill>
                <a:latin typeface="Calibri"/>
              </a:rPr>
              <a:t>Kiến trúc hướng sự kiện (event-driven): MQTT (thiết bị → backend) và WebSocket/REST (backend ↔ app)</a:t>
            </a:r>
          </a:p>
          <a:p>
            <a:pPr marL="0" indent="-201168">
              <a:lnSpc>
                <a:spcPct val="108000"/>
              </a:lnSpc>
              <a:spcAft>
                <a:spcPts val="600"/>
              </a:spcAft>
              <a:buClr>
                <a:srgbClr val="333333"/>
              </a:buClr>
              <a:buFont typeface="Calibri"/>
              <a:buChar char="—"/>
            </a:pPr>
            <a:r>
              <a:rPr sz="1500" b="0">
                <a:solidFill>
                  <a:srgbClr val="222222"/>
                </a:solidFill>
                <a:latin typeface="Calibri"/>
              </a:rPr>
              <a:t>Mỗi thành phần tổ chức theo kiến trúc phân tầng (layered), phụ thuộc một chiều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4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hus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354" y="219456"/>
            <a:ext cx="295421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4151C"/>
                </a:solidFill>
                <a:latin typeface="Calibri"/>
              </a:rPr>
              <a:t>02  KIẾN TRÚC &amp; THIẾT KẾ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C4151C"/>
                </a:solidFill>
                <a:latin typeface="Calibri"/>
              </a:rPr>
              <a:t>Biểu đồ gói tổng quan hệ thống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548640" cy="45720"/>
          </a:xfrm>
          <a:prstGeom prst="rect">
            <a:avLst/>
          </a:prstGeom>
          <a:solidFill>
            <a:srgbClr val="FFC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7299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HỆ THỐNG THEO DÕI VỊ TRÍ TRẺ EM THEO THỜI GIAN THỰC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72998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31453" y="1562100"/>
            <a:ext cx="6144333" cy="4008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bieudo_go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9553" y="1600200"/>
            <a:ext cx="6068133" cy="3931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5623560"/>
            <a:ext cx="106984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333333"/>
              </a:buClr>
              <a:buFont typeface="Calibri"/>
              <a:buChar char="—"/>
            </a:pPr>
            <a:r>
              <a:rPr sz="1350" b="0">
                <a:solidFill>
                  <a:srgbClr val="222222"/>
                </a:solidFill>
                <a:latin typeface="Calibri"/>
              </a:rPr>
              <a:t>Ba gói chính: ESP32 Firmware — Backend — Flutter App; gói ngoài: MQTT Broker, MongoDB, Telegram/Email</a:t>
            </a: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333333"/>
              </a:buClr>
              <a:buFont typeface="Calibri"/>
              <a:buChar char="—"/>
            </a:pPr>
            <a:r>
              <a:rPr sz="1350" b="0">
                <a:solidFill>
                  <a:srgbClr val="222222"/>
                </a:solidFill>
                <a:latin typeface="Calibri"/>
              </a:rPr>
              <a:t>Tổ chức theo tầng (layered), phụ thuộc một chiều: gói tầng trên phụ thuộc gói tầng dưới, không phụ thuộc ngược hay vượt tầng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4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hus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354" y="219456"/>
            <a:ext cx="295421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4151C"/>
                </a:solidFill>
                <a:latin typeface="Calibri"/>
              </a:rPr>
              <a:t>02  KIẾN TRÚC &amp; THIẾT KẾ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C4151C"/>
                </a:solidFill>
                <a:latin typeface="Calibri"/>
              </a:rPr>
              <a:t>Chức năng chính của hệ thống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548640" cy="45720"/>
          </a:xfrm>
          <a:prstGeom prst="rect">
            <a:avLst/>
          </a:prstGeom>
          <a:solidFill>
            <a:srgbClr val="FFC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7299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HỆ THỐNG THEO DÕI VỊ TRÍ TRẺ EM THEO THỜI GIAN THỰC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72998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297" y="1562100"/>
            <a:ext cx="4751325" cy="419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usecase_tong_qu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397" y="1600200"/>
            <a:ext cx="4675125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89320" y="1645920"/>
            <a:ext cx="5669280" cy="3749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-201168">
              <a:lnSpc>
                <a:spcPct val="108000"/>
              </a:lnSpc>
              <a:spcAft>
                <a:spcPts val="1100"/>
              </a:spcAft>
              <a:buClr>
                <a:srgbClr val="333333"/>
              </a:buClr>
              <a:buFont typeface="Calibri"/>
              <a:buChar char="—"/>
            </a:pPr>
            <a:r>
              <a:rPr sz="1600" b="0">
                <a:solidFill>
                  <a:srgbClr val="222222"/>
                </a:solidFill>
                <a:latin typeface="Calibri"/>
              </a:rPr>
              <a:t>Đăng ký / Đăng nhập tài khoản</a:t>
            </a:r>
          </a:p>
          <a:p>
            <a:pPr marL="0" indent="-201168">
              <a:lnSpc>
                <a:spcPct val="108000"/>
              </a:lnSpc>
              <a:spcAft>
                <a:spcPts val="1100"/>
              </a:spcAft>
              <a:buClr>
                <a:srgbClr val="333333"/>
              </a:buClr>
              <a:buFont typeface="Calibri"/>
              <a:buChar char="—"/>
            </a:pPr>
            <a:r>
              <a:rPr sz="1600" b="0">
                <a:solidFill>
                  <a:srgbClr val="222222"/>
                </a:solidFill>
                <a:latin typeface="Calibri"/>
              </a:rPr>
              <a:t>Quản lý thiết bị GPS</a:t>
            </a:r>
          </a:p>
          <a:p>
            <a:pPr marL="0" indent="-201168">
              <a:lnSpc>
                <a:spcPct val="108000"/>
              </a:lnSpc>
              <a:spcAft>
                <a:spcPts val="1100"/>
              </a:spcAft>
              <a:buClr>
                <a:srgbClr val="333333"/>
              </a:buClr>
              <a:buFont typeface="Calibri"/>
              <a:buChar char="—"/>
            </a:pPr>
            <a:r>
              <a:rPr sz="1600" b="0">
                <a:solidFill>
                  <a:srgbClr val="222222"/>
                </a:solidFill>
                <a:latin typeface="Calibri"/>
              </a:rPr>
              <a:t>Xem vị trí trẻ theo thời gian thực trên bản đồ</a:t>
            </a:r>
          </a:p>
          <a:p>
            <a:pPr marL="0" indent="-201168">
              <a:lnSpc>
                <a:spcPct val="108000"/>
              </a:lnSpc>
              <a:spcAft>
                <a:spcPts val="1100"/>
              </a:spcAft>
              <a:buClr>
                <a:srgbClr val="333333"/>
              </a:buClr>
              <a:buFont typeface="Calibri"/>
              <a:buChar char="—"/>
            </a:pPr>
            <a:r>
              <a:rPr sz="1600" b="0">
                <a:solidFill>
                  <a:srgbClr val="222222"/>
                </a:solidFill>
                <a:latin typeface="Calibri"/>
              </a:rPr>
              <a:t>Quản lý vùng an toàn địa lý (geofence)</a:t>
            </a:r>
          </a:p>
          <a:p>
            <a:pPr marL="0" indent="-201168">
              <a:lnSpc>
                <a:spcPct val="108000"/>
              </a:lnSpc>
              <a:spcAft>
                <a:spcPts val="1100"/>
              </a:spcAft>
              <a:buClr>
                <a:srgbClr val="333333"/>
              </a:buClr>
              <a:buFont typeface="Calibri"/>
              <a:buChar char="—"/>
            </a:pPr>
            <a:r>
              <a:rPr sz="1600" b="0">
                <a:solidFill>
                  <a:srgbClr val="222222"/>
                </a:solidFill>
                <a:latin typeface="Calibri"/>
              </a:rPr>
              <a:t>Cảnh báo vi phạm vùng an toàn</a:t>
            </a:r>
          </a:p>
          <a:p>
            <a:pPr marL="0" indent="-201168">
              <a:lnSpc>
                <a:spcPct val="108000"/>
              </a:lnSpc>
              <a:spcAft>
                <a:spcPts val="1100"/>
              </a:spcAft>
              <a:buClr>
                <a:srgbClr val="333333"/>
              </a:buClr>
              <a:buFont typeface="Calibri"/>
              <a:buChar char="—"/>
            </a:pPr>
            <a:r>
              <a:rPr sz="1600" b="0">
                <a:solidFill>
                  <a:srgbClr val="222222"/>
                </a:solidFill>
                <a:latin typeface="Calibri"/>
              </a:rPr>
              <a:t>Gửi tín hiệu SOS khẩn cấp</a:t>
            </a:r>
          </a:p>
          <a:p>
            <a:pPr marL="0" indent="-201168">
              <a:lnSpc>
                <a:spcPct val="108000"/>
              </a:lnSpc>
              <a:spcAft>
                <a:spcPts val="1100"/>
              </a:spcAft>
              <a:buClr>
                <a:srgbClr val="333333"/>
              </a:buClr>
              <a:buFont typeface="Calibri"/>
              <a:buChar char="—"/>
            </a:pPr>
            <a:r>
              <a:rPr sz="1600" b="0">
                <a:solidFill>
                  <a:srgbClr val="222222"/>
                </a:solidFill>
                <a:latin typeface="Calibri"/>
              </a:rPr>
              <a:t>Xem thống kê hành trình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4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hus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354" y="219456"/>
            <a:ext cx="295421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4151C"/>
                </a:solidFill>
                <a:latin typeface="Calibri"/>
              </a:rPr>
              <a:t>02  KIẾN TRÚC &amp; THIẾT KẾ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C4151C"/>
                </a:solidFill>
                <a:latin typeface="Calibri"/>
              </a:rPr>
              <a:t>Luồng nghiệp vụ 1: Cập nhật vị trí thời gian thực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548640" cy="45720"/>
          </a:xfrm>
          <a:prstGeom prst="rect">
            <a:avLst/>
          </a:prstGeom>
          <a:solidFill>
            <a:srgbClr val="FFC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95959"/>
                </a:solidFill>
                <a:latin typeface="Calibri"/>
              </a:rPr>
              <a:t>Tác nhân: Thiết bị IoT · Backend · Ứng dụng di động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11696"/>
            <a:ext cx="121916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7299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HỆ THỐNG THEO DÕI VỊ TRÍ TRẺ EM THEO THỜI GIAN THỰC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72998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1014" y="1836419"/>
            <a:ext cx="4550211" cy="4511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ctivity_vit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114" y="1874519"/>
            <a:ext cx="4474011" cy="443484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6309360" y="1874519"/>
            <a:ext cx="310896" cy="310896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7416" y="1856231"/>
            <a:ext cx="490118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Thiết bị IoT đọc tọa độ GPS mỗi 5 giây (SIM7600)</a:t>
            </a:r>
          </a:p>
        </p:txBody>
      </p:sp>
      <p:sp>
        <p:nvSpPr>
          <p:cNvPr id="15" name="Oval 14"/>
          <p:cNvSpPr/>
          <p:nvPr/>
        </p:nvSpPr>
        <p:spPr>
          <a:xfrm>
            <a:off x="6309360" y="2569463"/>
            <a:ext cx="310896" cy="310896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7416" y="2551175"/>
            <a:ext cx="490118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Gửi bản tin lên MQTT Broker qua kết nối 4G LTE</a:t>
            </a:r>
          </a:p>
        </p:txBody>
      </p:sp>
      <p:sp>
        <p:nvSpPr>
          <p:cNvPr id="17" name="Oval 16"/>
          <p:cNvSpPr/>
          <p:nvPr/>
        </p:nvSpPr>
        <p:spPr>
          <a:xfrm>
            <a:off x="6309360" y="3264407"/>
            <a:ext cx="310896" cy="310896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7416" y="3246119"/>
            <a:ext cx="490118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Backend nhận bản tin, lưu vào MongoDB và kiểm tra geofence tương ứng</a:t>
            </a:r>
          </a:p>
        </p:txBody>
      </p:sp>
      <p:sp>
        <p:nvSpPr>
          <p:cNvPr id="19" name="Oval 18"/>
          <p:cNvSpPr/>
          <p:nvPr/>
        </p:nvSpPr>
        <p:spPr>
          <a:xfrm>
            <a:off x="6309360" y="3959351"/>
            <a:ext cx="310896" cy="310896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7416" y="3941063"/>
            <a:ext cx="490118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Backend đẩy vị trí mới đến ứng dụng đang theo dõi qua WebSocket</a:t>
            </a:r>
          </a:p>
        </p:txBody>
      </p:sp>
      <p:sp>
        <p:nvSpPr>
          <p:cNvPr id="21" name="Oval 20"/>
          <p:cNvSpPr/>
          <p:nvPr/>
        </p:nvSpPr>
        <p:spPr>
          <a:xfrm>
            <a:off x="6309360" y="4654295"/>
            <a:ext cx="310896" cy="310896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7416" y="4636007"/>
            <a:ext cx="490118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Ứng dụng Flutter cập nhật marker trên bản đồ ngay khi nhận được dữ liệu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4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hus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354" y="219456"/>
            <a:ext cx="295421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4151C"/>
                </a:solidFill>
                <a:latin typeface="Calibri"/>
              </a:rPr>
              <a:t>02  KIẾN TRÚC &amp; THIẾT KẾ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C4151C"/>
                </a:solidFill>
                <a:latin typeface="Calibri"/>
              </a:rPr>
              <a:t>Luồng nghiệp vụ 2: Vùng an toàn &amp; cảnh báo vi phạm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548640" cy="45720"/>
          </a:xfrm>
          <a:prstGeom prst="rect">
            <a:avLst/>
          </a:prstGeom>
          <a:solidFill>
            <a:srgbClr val="FFC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95959"/>
                </a:solidFill>
                <a:latin typeface="Calibri"/>
              </a:rPr>
              <a:t>Tác nhân: Phụ huynh · Thiết bị IoT · Backend · Dịch vụ thông báo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11696"/>
            <a:ext cx="121916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7299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HỆ THỐNG THEO DÕI VỊ TRÍ TRẺ EM THEO THỜI GIAN THỰC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72998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4681" y="1836419"/>
            <a:ext cx="4762877" cy="4511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ctivity_geof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781" y="1874519"/>
            <a:ext cx="4686677" cy="443484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6309360" y="1874519"/>
            <a:ext cx="310896" cy="310896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7416" y="1856231"/>
            <a:ext cx="490118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22222"/>
                </a:solidFill>
                <a:latin typeface="Calibri"/>
              </a:rPr>
              <a:t>Phụ huynh vẽ vùng an toàn trên bản đồ — hình tròn hoặc hành lang đường đi</a:t>
            </a:r>
          </a:p>
        </p:txBody>
      </p:sp>
      <p:sp>
        <p:nvSpPr>
          <p:cNvPr id="15" name="Oval 14"/>
          <p:cNvSpPr/>
          <p:nvPr/>
        </p:nvSpPr>
        <p:spPr>
          <a:xfrm>
            <a:off x="6309360" y="2551175"/>
            <a:ext cx="310896" cy="310896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7416" y="2532887"/>
            <a:ext cx="490118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22222"/>
                </a:solidFill>
                <a:latin typeface="Calibri"/>
              </a:rPr>
              <a:t>Backend lưu cấu hình, áp dụng ngay cho các bản tin vị trí tiếp theo</a:t>
            </a:r>
          </a:p>
        </p:txBody>
      </p:sp>
      <p:sp>
        <p:nvSpPr>
          <p:cNvPr id="17" name="Oval 16"/>
          <p:cNvSpPr/>
          <p:nvPr/>
        </p:nvSpPr>
        <p:spPr>
          <a:xfrm>
            <a:off x="6309360" y="3227831"/>
            <a:ext cx="310896" cy="310896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7416" y="3209543"/>
            <a:ext cx="490118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22222"/>
                </a:solidFill>
                <a:latin typeface="Calibri"/>
              </a:rPr>
              <a:t>Mỗi tọa độ mới nhận được, backend kiểm tra có nằm trong vùng an toàn không</a:t>
            </a:r>
          </a:p>
        </p:txBody>
      </p:sp>
      <p:sp>
        <p:nvSpPr>
          <p:cNvPr id="19" name="Oval 18"/>
          <p:cNvSpPr/>
          <p:nvPr/>
        </p:nvSpPr>
        <p:spPr>
          <a:xfrm>
            <a:off x="6309360" y="3904487"/>
            <a:ext cx="310896" cy="310896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7416" y="3886199"/>
            <a:ext cx="490118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22222"/>
                </a:solidFill>
                <a:latin typeface="Calibri"/>
              </a:rPr>
              <a:t>Nếu vi phạm: tạo bản ghi cảnh báo, gửi Telegram/Email và đẩy qua WebSocket</a:t>
            </a:r>
          </a:p>
        </p:txBody>
      </p:sp>
      <p:sp>
        <p:nvSpPr>
          <p:cNvPr id="21" name="Oval 20"/>
          <p:cNvSpPr/>
          <p:nvPr/>
        </p:nvSpPr>
        <p:spPr>
          <a:xfrm>
            <a:off x="6309360" y="4581143"/>
            <a:ext cx="310896" cy="310896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7416" y="4562855"/>
            <a:ext cx="490118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22222"/>
                </a:solidFill>
                <a:latin typeface="Calibri"/>
              </a:rPr>
              <a:t>Ứng dụng hiển thị cảnh báo kèm tên vùng và vị trí vi phạm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4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hus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354" y="219456"/>
            <a:ext cx="295421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4151C"/>
                </a:solidFill>
                <a:latin typeface="Calibri"/>
              </a:rPr>
              <a:t>02  KIẾN TRÚC &amp; THIẾT KẾ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C4151C"/>
                </a:solidFill>
                <a:latin typeface="Calibri"/>
              </a:rPr>
              <a:t>Luồng nghiệp vụ 3: Xử lý tín hiệu SOS khẩn cấp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548640" cy="45720"/>
          </a:xfrm>
          <a:prstGeom prst="rect">
            <a:avLst/>
          </a:prstGeom>
          <a:solidFill>
            <a:srgbClr val="FFC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95959"/>
                </a:solidFill>
                <a:latin typeface="Calibri"/>
              </a:rPr>
              <a:t>Tác nhân: Thiết bị IoT · Backend · Dịch vụ thông báo · Phụ huynh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11696"/>
            <a:ext cx="121916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7299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HỆ THỐNG THEO DÕI VỊ TRÍ TRẺ EM THEO THỜI GIAN THỰC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72998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4820" y="1911064"/>
            <a:ext cx="5562600" cy="4361749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ctivity_s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49164"/>
            <a:ext cx="5486400" cy="4285549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6309360" y="1874519"/>
            <a:ext cx="310896" cy="310896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7416" y="1856231"/>
            <a:ext cx="490118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22222"/>
                </a:solidFill>
                <a:latin typeface="Calibri"/>
              </a:rPr>
              <a:t>Trẻ nhấn nút SOS vật lý trên thiết bị</a:t>
            </a:r>
          </a:p>
        </p:txBody>
      </p:sp>
      <p:sp>
        <p:nvSpPr>
          <p:cNvPr id="15" name="Oval 14"/>
          <p:cNvSpPr/>
          <p:nvPr/>
        </p:nvSpPr>
        <p:spPr>
          <a:xfrm>
            <a:off x="6309360" y="2551175"/>
            <a:ext cx="310896" cy="310896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7416" y="2532887"/>
            <a:ext cx="490118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22222"/>
                </a:solidFill>
                <a:latin typeface="Calibri"/>
              </a:rPr>
              <a:t>Thiết bị đọc tọa độ hiện tại, gửi ngay tín hiệu SOS qua MQTT (ưu tiên cao)</a:t>
            </a:r>
          </a:p>
        </p:txBody>
      </p:sp>
      <p:sp>
        <p:nvSpPr>
          <p:cNvPr id="17" name="Oval 16"/>
          <p:cNvSpPr/>
          <p:nvPr/>
        </p:nvSpPr>
        <p:spPr>
          <a:xfrm>
            <a:off x="6309360" y="3227831"/>
            <a:ext cx="310896" cy="310896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57416" y="3209543"/>
            <a:ext cx="490118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22222"/>
                </a:solidFill>
                <a:latin typeface="Calibri"/>
              </a:rPr>
              <a:t>Backend nhận tín hiệu, tạo bản ghi cảnh báo khẩn cấp</a:t>
            </a:r>
          </a:p>
        </p:txBody>
      </p:sp>
      <p:sp>
        <p:nvSpPr>
          <p:cNvPr id="19" name="Oval 18"/>
          <p:cNvSpPr/>
          <p:nvPr/>
        </p:nvSpPr>
        <p:spPr>
          <a:xfrm>
            <a:off x="6309360" y="3904487"/>
            <a:ext cx="310896" cy="310896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7416" y="3886199"/>
            <a:ext cx="490118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22222"/>
                </a:solidFill>
                <a:latin typeface="Calibri"/>
              </a:rPr>
              <a:t>Gửi đồng thời (asyncio.gather) qua Telegram kèm link Google Maps và qua WebSocket</a:t>
            </a:r>
          </a:p>
        </p:txBody>
      </p:sp>
      <p:sp>
        <p:nvSpPr>
          <p:cNvPr id="21" name="Oval 20"/>
          <p:cNvSpPr/>
          <p:nvPr/>
        </p:nvSpPr>
        <p:spPr>
          <a:xfrm>
            <a:off x="6309360" y="4581143"/>
            <a:ext cx="310896" cy="310896"/>
          </a:xfrm>
          <a:prstGeom prst="ellips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7416" y="4562855"/>
            <a:ext cx="4901184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22222"/>
                </a:solidFill>
                <a:latin typeface="Calibri"/>
              </a:rPr>
              <a:t>Ứng dụng hiển thị popup cảnh báo khẩn cùng vị trí hiện tại trên bản đồ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4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hus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354" y="219456"/>
            <a:ext cx="295421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4151C"/>
                </a:solidFill>
                <a:latin typeface="Calibri"/>
              </a:rPr>
              <a:t>02  KIẾN TRÚC &amp; THIẾT KẾ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C4151C"/>
                </a:solidFill>
                <a:latin typeface="Calibri"/>
              </a:rPr>
              <a:t>Thiết kế cơ sở dữ liệu (MongoDB)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548640" cy="45720"/>
          </a:xfrm>
          <a:prstGeom prst="rect">
            <a:avLst/>
          </a:prstGeom>
          <a:solidFill>
            <a:srgbClr val="FFC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7299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HỆ THỐNG THEO DÕI VỊ TRÍ TRẺ EM THEO THỜI GIAN THỰC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72998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51220" y="1743721"/>
            <a:ext cx="5745480" cy="4376396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er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781821"/>
            <a:ext cx="5669280" cy="43001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1645920"/>
            <a:ext cx="5212080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-201168">
              <a:lnSpc>
                <a:spcPct val="108000"/>
              </a:lnSpc>
              <a:spcAft>
                <a:spcPts val="1000"/>
              </a:spcAft>
              <a:buClr>
                <a:srgbClr val="333333"/>
              </a:buClr>
              <a:buFont typeface="Calibri"/>
              <a:buChar char="—"/>
            </a:pPr>
            <a:r>
              <a:rPr sz="1350" b="0">
                <a:solidFill>
                  <a:srgbClr val="222222"/>
                </a:solidFill>
                <a:latin typeface="Calibri"/>
              </a:rPr>
              <a:t>users — tài khoản phụ huynh</a:t>
            </a:r>
          </a:p>
          <a:p>
            <a:pPr marL="0" indent="-201168">
              <a:lnSpc>
                <a:spcPct val="108000"/>
              </a:lnSpc>
              <a:spcAft>
                <a:spcPts val="1000"/>
              </a:spcAft>
              <a:buClr>
                <a:srgbClr val="333333"/>
              </a:buClr>
              <a:buFont typeface="Calibri"/>
              <a:buChar char="—"/>
            </a:pPr>
            <a:r>
              <a:rPr sz="1350" b="0">
                <a:solidFill>
                  <a:srgbClr val="222222"/>
                </a:solidFill>
                <a:latin typeface="Calibri"/>
              </a:rPr>
              <a:t>device_permissions — quyền sở hữu/chia sẻ thiết bị (1–N với users)</a:t>
            </a:r>
          </a:p>
          <a:p>
            <a:pPr marL="0" indent="-201168">
              <a:lnSpc>
                <a:spcPct val="108000"/>
              </a:lnSpc>
              <a:spcAft>
                <a:spcPts val="1000"/>
              </a:spcAft>
              <a:buClr>
                <a:srgbClr val="333333"/>
              </a:buClr>
              <a:buFont typeface="Calibri"/>
              <a:buChar char="—"/>
            </a:pPr>
            <a:r>
              <a:rPr sz="1350" b="0">
                <a:solidFill>
                  <a:srgbClr val="222222"/>
                </a:solidFill>
                <a:latin typeface="Calibri"/>
              </a:rPr>
              <a:t>device_configs — cấu hình thiết bị (1–1 với thiết bị)</a:t>
            </a:r>
          </a:p>
          <a:p>
            <a:pPr marL="0" indent="-201168">
              <a:lnSpc>
                <a:spcPct val="108000"/>
              </a:lnSpc>
              <a:spcAft>
                <a:spcPts val="1000"/>
              </a:spcAft>
              <a:buClr>
                <a:srgbClr val="333333"/>
              </a:buClr>
              <a:buFont typeface="Calibri"/>
              <a:buChar char="—"/>
            </a:pPr>
            <a:r>
              <a:rPr sz="1350" b="0">
                <a:solidFill>
                  <a:srgbClr val="222222"/>
                </a:solidFill>
                <a:latin typeface="Calibri"/>
              </a:rPr>
              <a:t>locations — chuỗi tọa độ GPS theo thời gian (1–N theo thiết bị)</a:t>
            </a:r>
          </a:p>
          <a:p>
            <a:pPr marL="0" indent="-201168">
              <a:lnSpc>
                <a:spcPct val="108000"/>
              </a:lnSpc>
              <a:spcAft>
                <a:spcPts val="1000"/>
              </a:spcAft>
              <a:buClr>
                <a:srgbClr val="333333"/>
              </a:buClr>
              <a:buFont typeface="Calibri"/>
              <a:buChar char="—"/>
            </a:pPr>
            <a:r>
              <a:rPr sz="1350" b="0">
                <a:solidFill>
                  <a:srgbClr val="222222"/>
                </a:solidFill>
                <a:latin typeface="Calibri"/>
              </a:rPr>
              <a:t>geofence_configs — cấu hình vùng an toàn (mảng geofences: mode, tâm, path)</a:t>
            </a:r>
          </a:p>
          <a:p>
            <a:pPr marL="0" indent="-201168">
              <a:lnSpc>
                <a:spcPct val="108000"/>
              </a:lnSpc>
              <a:spcAft>
                <a:spcPts val="1000"/>
              </a:spcAft>
              <a:buClr>
                <a:srgbClr val="333333"/>
              </a:buClr>
              <a:buFont typeface="Calibri"/>
              <a:buChar char="—"/>
            </a:pPr>
            <a:r>
              <a:rPr sz="1350" b="0">
                <a:solidFill>
                  <a:srgbClr val="222222"/>
                </a:solidFill>
                <a:latin typeface="Calibri"/>
              </a:rPr>
              <a:t>alerts — lịch sử cảnh báo (1–N theo thiết bị)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4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hus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354" y="219456"/>
            <a:ext cx="295421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4151C"/>
                </a:solidFill>
                <a:latin typeface="Calibri"/>
              </a:rPr>
              <a:t>03  CÔNG NGHỆ SỬ DỤNG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C4151C"/>
                </a:solidFill>
                <a:latin typeface="Calibri"/>
              </a:rPr>
              <a:t>Công nghệ phần cứng: ESP32 + SIM7600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548640" cy="45720"/>
          </a:xfrm>
          <a:prstGeom prst="rect">
            <a:avLst/>
          </a:prstGeom>
          <a:solidFill>
            <a:srgbClr val="FFC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7299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HỆ THỐNG THEO DÕI VỊ TRÍ TRẺ EM THEO THỜI GIAN THỰC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72998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45920"/>
            <a:ext cx="5440680" cy="429768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645920"/>
            <a:ext cx="64008" cy="429768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810512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22222"/>
                </a:solidFill>
                <a:latin typeface="Calibri"/>
              </a:rPr>
              <a:t>ESP32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40280"/>
            <a:ext cx="4937760" cy="3566160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anchor="t">
            <a:spAutoFit/>
          </a:bodyPr>
          <a:lstStyle/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333333"/>
              </a:buClr>
              <a:buFont typeface="Calibri"/>
              <a:buChar char="—"/>
            </a:pPr>
            <a:r>
              <a:rPr sz="1500" b="0">
                <a:solidFill>
                  <a:srgbClr val="222222"/>
                </a:solidFill>
                <a:latin typeface="Calibri"/>
              </a:rPr>
              <a:t>Dual-core Xtensa LX6, xung nhịp 240 MHz</a:t>
            </a: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333333"/>
              </a:buClr>
              <a:buFont typeface="Calibri"/>
              <a:buChar char="—"/>
            </a:pPr>
            <a:r>
              <a:rPr sz="1500" b="0">
                <a:solidFill>
                  <a:srgbClr val="222222"/>
                </a:solidFill>
                <a:latin typeface="Calibri"/>
              </a:rPr>
              <a:t>Wi-Fi 802.11 b/g/n, Bluetooth/BLE tích hợp sẵn</a:t>
            </a: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333333"/>
              </a:buClr>
              <a:buFont typeface="Calibri"/>
              <a:buChar char="—"/>
            </a:pPr>
            <a:r>
              <a:rPr sz="1500" b="0">
                <a:solidFill>
                  <a:srgbClr val="222222"/>
                </a:solidFill>
                <a:latin typeface="Calibri"/>
              </a:rPr>
              <a:t>UART, SPI, I²C, ADC — giao tiếp với SIM7600 qua UART2</a:t>
            </a: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333333"/>
              </a:buClr>
              <a:buFont typeface="Calibri"/>
              <a:buChar char="—"/>
            </a:pPr>
            <a:r>
              <a:rPr sz="1500" b="0">
                <a:solidFill>
                  <a:srgbClr val="222222"/>
                </a:solidFill>
                <a:latin typeface="Calibri"/>
              </a:rPr>
              <a:t>Ngắt ngoài (GPIO) xử lý sự kiện nhấn nút SOS tức thì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45920"/>
            <a:ext cx="5440680" cy="429768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645920"/>
            <a:ext cx="64008" cy="429768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1810512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 dirty="0">
                <a:solidFill>
                  <a:srgbClr val="222222"/>
                </a:solidFill>
                <a:latin typeface="Calibri"/>
              </a:rPr>
              <a:t>SIM7600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240280"/>
            <a:ext cx="493776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595959"/>
              </a:buClr>
              <a:buFont typeface="Calibri"/>
              <a:buChar char="—"/>
            </a:pPr>
            <a:r>
              <a:rPr sz="1500" b="0">
                <a:solidFill>
                  <a:srgbClr val="222222"/>
                </a:solidFill>
                <a:latin typeface="Calibri"/>
              </a:rPr>
              <a:t>Tích hợp GNSS (GPS/GLONASS/BeiDou) + modem 4G LTE Cat-1 trong 1 module</a:t>
            </a: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595959"/>
              </a:buClr>
              <a:buFont typeface="Calibri"/>
              <a:buChar char="—"/>
            </a:pPr>
            <a:r>
              <a:rPr sz="1500" b="0">
                <a:solidFill>
                  <a:srgbClr val="222222"/>
                </a:solidFill>
                <a:latin typeface="Calibri"/>
              </a:rPr>
              <a:t>Độ chính xác GPS ~2,5 m CEP ngoài trời</a:t>
            </a: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595959"/>
              </a:buClr>
              <a:buFont typeface="Calibri"/>
              <a:buChar char="—"/>
            </a:pPr>
            <a:r>
              <a:rPr sz="1500" b="0">
                <a:solidFill>
                  <a:srgbClr val="222222"/>
                </a:solidFill>
                <a:latin typeface="Calibri"/>
              </a:rPr>
              <a:t>Giao tiếp qua UART bằng AT command, trừu tượng hoá qua thư viện TinyGSM</a:t>
            </a: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595959"/>
              </a:buClr>
              <a:buFont typeface="Calibri"/>
              <a:buChar char="—"/>
            </a:pPr>
            <a:r>
              <a:rPr sz="1500" b="0">
                <a:solidFill>
                  <a:srgbClr val="222222"/>
                </a:solidFill>
                <a:latin typeface="Calibri"/>
              </a:rPr>
              <a:t>1 anten duy nhất phục vụ cả định vị và kết nối di động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0807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22222"/>
                </a:solidFill>
                <a:latin typeface="Calibri"/>
              </a:rPr>
              <a:t>→ Một module duy nhất thay thế 2 module GPS + modem rời riêng biệt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4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hus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354" y="219456"/>
            <a:ext cx="295421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4151C"/>
                </a:solidFill>
                <a:latin typeface="Calibri"/>
              </a:rPr>
              <a:t>03  CÔNG NGHỆ SỬ DỤNG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C4151C"/>
                </a:solidFill>
                <a:latin typeface="Calibri"/>
              </a:rPr>
              <a:t>Giao thức truyền thông &amp; Backend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548640" cy="45720"/>
          </a:xfrm>
          <a:prstGeom prst="rect">
            <a:avLst/>
          </a:prstGeom>
          <a:solidFill>
            <a:srgbClr val="FFC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7299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HỆ THỐNG THEO DÕI VỊ TRÍ TRẺ EM THEO THỜI GIAN THỰC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72998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45920"/>
            <a:ext cx="3611880" cy="429768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645920"/>
            <a:ext cx="64008" cy="429768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810512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22222"/>
                </a:solidFill>
                <a:latin typeface="Calibri"/>
              </a:rPr>
              <a:t>MQTT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40280"/>
            <a:ext cx="310896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333333"/>
              </a:buClr>
              <a:buFont typeface="Calibri"/>
              <a:buChar char="—"/>
            </a:pPr>
            <a:r>
              <a:rPr sz="1350" b="0">
                <a:solidFill>
                  <a:srgbClr val="222222"/>
                </a:solidFill>
                <a:latin typeface="Calibri"/>
              </a:rPr>
              <a:t>Giao thức nhẹ, mô hình publish/subscribe</a:t>
            </a: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333333"/>
              </a:buClr>
              <a:buFont typeface="Calibri"/>
              <a:buChar char="—"/>
            </a:pPr>
            <a:r>
              <a:rPr sz="1350" b="0">
                <a:solidFill>
                  <a:srgbClr val="222222"/>
                </a:solidFill>
                <a:latin typeface="Calibri"/>
              </a:rPr>
              <a:t>QoS 1 — đảm bảo dữ liệu không mất trên mạng di động không ổn định</a:t>
            </a: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333333"/>
              </a:buClr>
              <a:buFont typeface="Calibri"/>
              <a:buChar char="—"/>
            </a:pPr>
            <a:r>
              <a:rPr sz="1350" b="0">
                <a:solidFill>
                  <a:srgbClr val="222222"/>
                </a:solidFill>
                <a:latin typeface="Calibri"/>
              </a:rPr>
              <a:t>Broker: EMQX public (broker.emqx.io)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645920"/>
            <a:ext cx="3611880" cy="429768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7680" y="1645920"/>
            <a:ext cx="64008" cy="429768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1810512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22222"/>
                </a:solidFill>
                <a:latin typeface="Calibri"/>
              </a:rPr>
              <a:t>FastAPI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240280"/>
            <a:ext cx="310896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333333"/>
              </a:buClr>
              <a:buFont typeface="Calibri"/>
              <a:buChar char="—"/>
            </a:pPr>
            <a:r>
              <a:rPr sz="1350" b="0">
                <a:solidFill>
                  <a:srgbClr val="222222"/>
                </a:solidFill>
                <a:latin typeface="Calibri"/>
              </a:rPr>
              <a:t>Framework Python bất đồng bộ (async/await)</a:t>
            </a: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333333"/>
              </a:buClr>
              <a:buFont typeface="Calibri"/>
              <a:buChar char="—"/>
            </a:pPr>
            <a:r>
              <a:rPr sz="1350" b="0">
                <a:solidFill>
                  <a:srgbClr val="222222"/>
                </a:solidFill>
                <a:latin typeface="Calibri"/>
              </a:rPr>
              <a:t>Xử lý đồng thời MQTT callback, WebSocket, REST API, MongoDB</a:t>
            </a: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333333"/>
              </a:buClr>
              <a:buFont typeface="Calibri"/>
              <a:buChar char="—"/>
            </a:pPr>
            <a:r>
              <a:rPr sz="1350" b="0">
                <a:solidFill>
                  <a:srgbClr val="222222"/>
                </a:solidFill>
                <a:latin typeface="Calibri"/>
              </a:rPr>
              <a:t>Tự sinh tài liệu API theo chuẩn OpenAPI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645920"/>
            <a:ext cx="3611880" cy="429768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92440" y="1645920"/>
            <a:ext cx="64008" cy="429768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6760" y="1810512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22222"/>
                </a:solidFill>
                <a:latin typeface="Calibri"/>
              </a:rPr>
              <a:t>MongoDB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240280"/>
            <a:ext cx="310896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595959"/>
              </a:buClr>
              <a:buFont typeface="Calibri"/>
              <a:buChar char="—"/>
            </a:pPr>
            <a:r>
              <a:rPr sz="1350" b="0">
                <a:solidFill>
                  <a:srgbClr val="222222"/>
                </a:solidFill>
                <a:latin typeface="Calibri"/>
              </a:rPr>
              <a:t>NoSQL hướng tài liệu, lưu JSON linh hoạt</a:t>
            </a: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595959"/>
              </a:buClr>
              <a:buFont typeface="Calibri"/>
              <a:buChar char="—"/>
            </a:pPr>
            <a:r>
              <a:rPr sz="1350" b="0">
                <a:solidFill>
                  <a:srgbClr val="222222"/>
                </a:solidFill>
                <a:latin typeface="Calibri"/>
              </a:rPr>
              <a:t>Time Series Collection cho dữ liệu chuỗi thời gian</a:t>
            </a: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595959"/>
              </a:buClr>
              <a:buFont typeface="Calibri"/>
              <a:buChar char="—"/>
            </a:pPr>
            <a:r>
              <a:rPr sz="1350" b="0">
                <a:solidFill>
                  <a:srgbClr val="222222"/>
                </a:solidFill>
                <a:latin typeface="Calibri"/>
              </a:rPr>
              <a:t>Chỉ mục địa lý 2dsphere cho lịch sử hành trình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4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hus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354" y="219456"/>
            <a:ext cx="295421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4151C"/>
                </a:solidFill>
                <a:latin typeface="Calibri"/>
              </a:rPr>
              <a:t>03  CÔNG NGHỆ SỬ DỤNG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C4151C"/>
                </a:solidFill>
                <a:latin typeface="Calibri"/>
              </a:rPr>
              <a:t>Ứng dụng di động: Flutter + OpenStreetMap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548640" cy="45720"/>
          </a:xfrm>
          <a:prstGeom prst="rect">
            <a:avLst/>
          </a:prstGeom>
          <a:solidFill>
            <a:srgbClr val="FFC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7299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HỆ THỐNG THEO DÕI VỊ TRÍ TRẺ EM THEO THỜI GIAN THỰC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72998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45920"/>
            <a:ext cx="658368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-201168">
              <a:lnSpc>
                <a:spcPct val="108000"/>
              </a:lnSpc>
              <a:spcAft>
                <a:spcPts val="1400"/>
              </a:spcAft>
              <a:buClr>
                <a:srgbClr val="333333"/>
              </a:buClr>
              <a:buFont typeface="Calibri"/>
              <a:buChar char="—"/>
            </a:pPr>
            <a:r>
              <a:rPr sz="1600" b="0">
                <a:solidFill>
                  <a:srgbClr val="222222"/>
                </a:solidFill>
                <a:latin typeface="Calibri"/>
              </a:rPr>
              <a:t>Flutter (Dart) — một codebase cho cả Android và iOS</a:t>
            </a:r>
          </a:p>
          <a:p>
            <a:pPr marL="256032" indent="-201168">
              <a:lnSpc>
                <a:spcPct val="108000"/>
              </a:lnSpc>
              <a:spcAft>
                <a:spcPts val="1400"/>
              </a:spcAft>
              <a:buClr>
                <a:srgbClr val="333333"/>
              </a:buClr>
              <a:buFont typeface="Calibri"/>
              <a:buChar char="·"/>
            </a:pPr>
            <a:r>
              <a:rPr sz="1500" b="0">
                <a:solidFill>
                  <a:srgbClr val="222222"/>
                </a:solidFill>
                <a:latin typeface="Calibri"/>
              </a:rPr>
              <a:t>Biên dịch AOT sang mã máy, engine đồ hoạ riêng (Skia/Impeller) → 60fps nhất quán</a:t>
            </a:r>
          </a:p>
          <a:p>
            <a:pPr marL="0" indent="-201168">
              <a:lnSpc>
                <a:spcPct val="108000"/>
              </a:lnSpc>
              <a:spcAft>
                <a:spcPts val="1400"/>
              </a:spcAft>
              <a:buClr>
                <a:srgbClr val="333333"/>
              </a:buClr>
              <a:buFont typeface="Calibri"/>
              <a:buChar char="—"/>
            </a:pPr>
            <a:r>
              <a:rPr sz="1600" b="0">
                <a:solidFill>
                  <a:srgbClr val="222222"/>
                </a:solidFill>
                <a:latin typeface="Calibri"/>
              </a:rPr>
              <a:t>flutter_map + OpenStreetMap — bản đồ tương tác, miễn phí, không cần API key</a:t>
            </a:r>
          </a:p>
          <a:p>
            <a:pPr marL="0" indent="-201168">
              <a:lnSpc>
                <a:spcPct val="108000"/>
              </a:lnSpc>
              <a:spcAft>
                <a:spcPts val="1400"/>
              </a:spcAft>
              <a:buClr>
                <a:srgbClr val="333333"/>
              </a:buClr>
              <a:buFont typeface="Calibri"/>
              <a:buChar char="—"/>
            </a:pPr>
            <a:r>
              <a:rPr sz="1600" b="0">
                <a:solidFill>
                  <a:srgbClr val="222222"/>
                </a:solidFill>
                <a:latin typeface="Calibri"/>
              </a:rPr>
              <a:t>web_socket_channel — nhận cập nhật vị trí thời gian thực từ backend</a:t>
            </a:r>
          </a:p>
          <a:p>
            <a:pPr marL="0" indent="-201168">
              <a:lnSpc>
                <a:spcPct val="108000"/>
              </a:lnSpc>
              <a:spcAft>
                <a:spcPts val="1400"/>
              </a:spcAft>
              <a:buClr>
                <a:srgbClr val="333333"/>
              </a:buClr>
              <a:buFont typeface="Calibri"/>
              <a:buChar char="—"/>
            </a:pPr>
            <a:r>
              <a:rPr sz="1600" b="0">
                <a:solidFill>
                  <a:srgbClr val="222222"/>
                </a:solidFill>
                <a:latin typeface="Calibri"/>
              </a:rPr>
              <a:t>Provider pattern — quản lý trạng thái ứng dụng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31380" y="2554605"/>
            <a:ext cx="4511040" cy="266319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tk_giaodi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2592705"/>
            <a:ext cx="4434840" cy="25869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4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hus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354" y="219456"/>
            <a:ext cx="295421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4151C"/>
                </a:solidFill>
                <a:latin typeface="Calibri"/>
              </a:rPr>
              <a:t>04  ĐÓNG GÓP KỸ THUẬT NỔI BẬT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C4151C"/>
                </a:solidFill>
                <a:latin typeface="Calibri"/>
              </a:rPr>
              <a:t>Đóng góp 1: Tích hợp GPS + kết nối di động trên một module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548640" cy="45720"/>
          </a:xfrm>
          <a:prstGeom prst="rect">
            <a:avLst/>
          </a:prstGeom>
          <a:solidFill>
            <a:srgbClr val="FFC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7299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HỆ THỐNG THEO DÕI VỊ TRÍ TRẺ EM THEO THỜI GIAN THỰC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72998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45920"/>
            <a:ext cx="5440680" cy="233172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645920"/>
            <a:ext cx="64008" cy="233172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810512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2222"/>
                </a:solidFill>
                <a:latin typeface="Calibri"/>
              </a:rPr>
              <a:t>Bài toán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40280"/>
            <a:ext cx="493776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595959"/>
              </a:buClr>
              <a:buFont typeface="Calibri"/>
              <a:buChar char="—"/>
            </a:pPr>
            <a:r>
              <a:rPr sz="1400" b="0">
                <a:solidFill>
                  <a:srgbClr val="222222"/>
                </a:solidFill>
                <a:latin typeface="Calibri"/>
              </a:rPr>
              <a:t>2 module riêng biệt (GPS + modem) → tăng linh kiện, cần 2 anten</a:t>
            </a: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595959"/>
              </a:buClr>
              <a:buFont typeface="Calibri"/>
              <a:buChar char="—"/>
            </a:pPr>
            <a:r>
              <a:rPr sz="1400" b="0">
                <a:solidFill>
                  <a:srgbClr val="222222"/>
                </a:solidFill>
                <a:latin typeface="Calibri"/>
              </a:rPr>
              <a:t>Firmware phải điều phối song song 2 luồng UART khác nhau → phức tạp, dễ xung đột tài nguyên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45920"/>
            <a:ext cx="5440680" cy="233172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645920"/>
            <a:ext cx="64008" cy="233172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1810512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2222"/>
                </a:solidFill>
                <a:latin typeface="Calibri"/>
              </a:rPr>
              <a:t>Giải pháp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240280"/>
            <a:ext cx="493776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333333"/>
              </a:buClr>
              <a:buFont typeface="Calibri"/>
              <a:buChar char="—"/>
            </a:pPr>
            <a:r>
              <a:rPr sz="1400" b="0">
                <a:solidFill>
                  <a:srgbClr val="222222"/>
                </a:solidFill>
                <a:latin typeface="Calibri"/>
              </a:rPr>
              <a:t>SIM7600: tích hợp GNSS + 4G LTE trong 1 linh kiện, 1 anten, 1 UART</a:t>
            </a: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333333"/>
              </a:buClr>
              <a:buFont typeface="Calibri"/>
              <a:buChar char="—"/>
            </a:pPr>
            <a:r>
              <a:rPr sz="1400" b="0">
                <a:solidFill>
                  <a:srgbClr val="222222"/>
                </a:solidFill>
                <a:latin typeface="Calibri"/>
              </a:rPr>
              <a:t>Firmware theo state machine: INIT → GSM_CONNECT → MQTT_CONNECT → GPS_WAIT_FIX → TRACKING</a:t>
            </a: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333333"/>
              </a:buClr>
              <a:buFont typeface="Calibri"/>
              <a:buChar char="—"/>
            </a:pPr>
            <a:r>
              <a:rPr sz="1400" b="0">
                <a:solidFill>
                  <a:srgbClr val="222222"/>
                </a:solidFill>
                <a:latin typeface="Calibri"/>
              </a:rPr>
              <a:t>Tự động quay lại GSM_CONNECT khi mất mạng, không gián đoạn phiên GPS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160520"/>
            <a:ext cx="11155680" cy="1874519"/>
          </a:xfrm>
          <a:prstGeom prst="roundRect">
            <a:avLst>
              <a:gd name="adj" fmla="val 6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315968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Kết quả đạt được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81728"/>
            <a:ext cx="106070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-201168">
              <a:lnSpc>
                <a:spcPct val="108000"/>
              </a:lnSpc>
              <a:spcAft>
                <a:spcPts val="600"/>
              </a:spcAft>
              <a:buClr>
                <a:srgbClr val="FFFFFF"/>
              </a:buClr>
              <a:buFont typeface="Calibri"/>
              <a:buChar char="—"/>
            </a:pPr>
            <a:r>
              <a:rPr sz="1350" b="0">
                <a:solidFill>
                  <a:srgbClr val="FFFFFF"/>
                </a:solidFill>
                <a:latin typeface="Calibri"/>
              </a:rPr>
              <a:t>Giảm số linh kiện chính trên bo mạch, đơn giản hoá sơ đồ nguyên lý và bố cục PCB</a:t>
            </a:r>
          </a:p>
          <a:p>
            <a:pPr marL="0" indent="-201168">
              <a:lnSpc>
                <a:spcPct val="108000"/>
              </a:lnSpc>
              <a:spcAft>
                <a:spcPts val="600"/>
              </a:spcAft>
              <a:buClr>
                <a:srgbClr val="FFFFFF"/>
              </a:buClr>
              <a:buFont typeface="Calibri"/>
              <a:buChar char="—"/>
            </a:pPr>
            <a:r>
              <a:rPr sz="1350" b="0">
                <a:solidFill>
                  <a:srgbClr val="FFFFFF"/>
                </a:solidFill>
                <a:latin typeface="Calibri"/>
              </a:rPr>
              <a:t>Firmware chỉ quản lý 1 giao diện UART, giảm nguy cơ tranh chấp tài nguyên</a:t>
            </a:r>
          </a:p>
          <a:p>
            <a:pPr marL="0" indent="-201168">
              <a:lnSpc>
                <a:spcPct val="108000"/>
              </a:lnSpc>
              <a:spcAft>
                <a:spcPts val="600"/>
              </a:spcAft>
              <a:buClr>
                <a:srgbClr val="FFFFFF"/>
              </a:buClr>
              <a:buFont typeface="Calibri"/>
              <a:buChar char="—"/>
            </a:pPr>
            <a:r>
              <a:rPr sz="1350" b="0">
                <a:solidFill>
                  <a:srgbClr val="FFFFFF"/>
                </a:solidFill>
                <a:latin typeface="Calibri"/>
              </a:rPr>
              <a:t>Thiết bị tự phục hồi sau khi mất tín hiệu GPS hoặc rớt mạng mà không cần can thiệp thủ công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4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hus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354" y="219456"/>
            <a:ext cx="295421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dirty="0">
                <a:solidFill>
                  <a:srgbClr val="C4151C"/>
                </a:solidFill>
                <a:latin typeface="Calibri"/>
              </a:rPr>
              <a:t>04  ĐÓNG GÓP KỸ THUẬT NỔI BẬT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dirty="0" err="1">
                <a:solidFill>
                  <a:srgbClr val="C4151C"/>
                </a:solidFill>
                <a:latin typeface="Calibri"/>
              </a:rPr>
              <a:t>Đóng</a:t>
            </a:r>
            <a:r>
              <a:rPr sz="3000" b="1" i="0" dirty="0">
                <a:solidFill>
                  <a:srgbClr val="C4151C"/>
                </a:solidFill>
                <a:latin typeface="Calibri"/>
              </a:rPr>
              <a:t> </a:t>
            </a:r>
            <a:r>
              <a:rPr sz="3000" b="1" i="0" dirty="0" err="1">
                <a:solidFill>
                  <a:srgbClr val="C4151C"/>
                </a:solidFill>
                <a:latin typeface="Calibri"/>
              </a:rPr>
              <a:t>góp</a:t>
            </a:r>
            <a:r>
              <a:rPr sz="3000" b="1" i="0" dirty="0">
                <a:solidFill>
                  <a:srgbClr val="C4151C"/>
                </a:solidFill>
                <a:latin typeface="Calibri"/>
              </a:rPr>
              <a:t> 1 (</a:t>
            </a:r>
            <a:r>
              <a:rPr sz="3000" b="1" i="0" dirty="0" err="1">
                <a:solidFill>
                  <a:srgbClr val="C4151C"/>
                </a:solidFill>
                <a:latin typeface="Calibri"/>
              </a:rPr>
              <a:t>tiếp</a:t>
            </a:r>
            <a:r>
              <a:rPr sz="3000" b="1" i="0" dirty="0">
                <a:solidFill>
                  <a:srgbClr val="C4151C"/>
                </a:solidFill>
                <a:latin typeface="Calibri"/>
              </a:rPr>
              <a:t>): Lưu </a:t>
            </a:r>
            <a:r>
              <a:rPr sz="3000" b="1" i="0" dirty="0" err="1">
                <a:solidFill>
                  <a:srgbClr val="C4151C"/>
                </a:solidFill>
                <a:latin typeface="Calibri"/>
              </a:rPr>
              <a:t>đồ</a:t>
            </a:r>
            <a:r>
              <a:rPr sz="3000" b="1" i="0" dirty="0">
                <a:solidFill>
                  <a:srgbClr val="C4151C"/>
                </a:solidFill>
                <a:latin typeface="Calibri"/>
              </a:rPr>
              <a:t> firmware ESP32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548640" cy="45720"/>
          </a:xfrm>
          <a:prstGeom prst="rect">
            <a:avLst/>
          </a:prstGeom>
          <a:solidFill>
            <a:srgbClr val="FFC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95959"/>
                </a:solidFill>
                <a:latin typeface="Calibri"/>
              </a:rPr>
              <a:t>Ba giai đoạn vận hành: khởi tạo → vòng lặp chính → xử lý ngắt SOS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11696"/>
            <a:ext cx="121916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7299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HỆ THỐNG THEO DÕI VỊ TRÍ TRẺ EM THEO THỜI GIAN THỰC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72998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4758" y="1653540"/>
            <a:ext cx="2493882" cy="3870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irmware_set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58" y="1691640"/>
            <a:ext cx="2417682" cy="3794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5532120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222222"/>
                </a:solidFill>
                <a:latin typeface="Calibri"/>
              </a:rPr>
              <a:t>Khởi tạo (Setup)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852160"/>
            <a:ext cx="36118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595959"/>
                </a:solidFill>
                <a:latin typeface="Calibri"/>
              </a:rPr>
              <a:t>UART → reset/bật GPS SIM7600 → lặp đến khi có GPRS + MQTT → đăng ký ngắt SOS (GPIO0)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72946" y="1653540"/>
            <a:ext cx="2187027" cy="3870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firmware_lo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1046" y="1691640"/>
            <a:ext cx="2110827" cy="37947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297680" y="5532120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222222"/>
                </a:solidFill>
                <a:latin typeface="Calibri"/>
              </a:rPr>
              <a:t>Vòng lặp chính (Main Loop)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5852160"/>
            <a:ext cx="36118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595959"/>
                </a:solidFill>
                <a:latin typeface="Calibri"/>
              </a:rPr>
              <a:t>Duy trì MQTT, kiểm tra cờ sosPending, mỗi 5s đọc GPS và publish nếu đã có định vị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249" y="1653540"/>
            <a:ext cx="2149941" cy="3870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firmware_s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4349" y="1691640"/>
            <a:ext cx="2073741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092440" y="5532120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222222"/>
                </a:solidFill>
                <a:latin typeface="Calibri"/>
              </a:rPr>
              <a:t>Xử lý ngắt SOS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5852160"/>
            <a:ext cx="36118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595959"/>
                </a:solidFill>
                <a:latin typeface="Calibri"/>
              </a:rPr>
              <a:t>Khử rung 50ms → đọc GPS (fallback vị trí cache) → cooldown 10s → publish SOS + nháy LED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4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hus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354" y="219456"/>
            <a:ext cx="295421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4151C"/>
                </a:solidFill>
                <a:latin typeface="Calibri"/>
              </a:rPr>
              <a:t>04  ĐÓNG GÓP KỸ THUẬT NỔI BẬT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0584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dirty="0" err="1">
                <a:solidFill>
                  <a:srgbClr val="C4151C"/>
                </a:solidFill>
                <a:latin typeface="Calibri"/>
              </a:rPr>
              <a:t>Đóng</a:t>
            </a:r>
            <a:r>
              <a:rPr sz="3000" b="1" i="0" dirty="0">
                <a:solidFill>
                  <a:srgbClr val="C4151C"/>
                </a:solidFill>
                <a:latin typeface="Calibri"/>
              </a:rPr>
              <a:t> </a:t>
            </a:r>
            <a:r>
              <a:rPr sz="3000" b="1" i="0" dirty="0" err="1">
                <a:solidFill>
                  <a:srgbClr val="C4151C"/>
                </a:solidFill>
                <a:latin typeface="Calibri"/>
              </a:rPr>
              <a:t>góp</a:t>
            </a:r>
            <a:r>
              <a:rPr sz="3000" b="1" i="0" dirty="0">
                <a:solidFill>
                  <a:srgbClr val="C4151C"/>
                </a:solidFill>
                <a:latin typeface="Calibri"/>
              </a:rPr>
              <a:t> 2: Geofencing — </a:t>
            </a:r>
            <a:r>
              <a:rPr sz="3000" b="1" i="0" dirty="0" err="1">
                <a:solidFill>
                  <a:srgbClr val="C4151C"/>
                </a:solidFill>
                <a:latin typeface="Calibri"/>
              </a:rPr>
              <a:t>chế</a:t>
            </a:r>
            <a:r>
              <a:rPr sz="3000" b="1" i="0" dirty="0">
                <a:solidFill>
                  <a:srgbClr val="C4151C"/>
                </a:solidFill>
                <a:latin typeface="Calibri"/>
              </a:rPr>
              <a:t> </a:t>
            </a:r>
            <a:r>
              <a:rPr sz="3000" b="1" i="0" dirty="0" err="1">
                <a:solidFill>
                  <a:srgbClr val="C4151C"/>
                </a:solidFill>
                <a:latin typeface="Calibri"/>
              </a:rPr>
              <a:t>độ</a:t>
            </a:r>
            <a:r>
              <a:rPr sz="3000" b="1" i="0" dirty="0">
                <a:solidFill>
                  <a:srgbClr val="C4151C"/>
                </a:solidFill>
                <a:latin typeface="Calibri"/>
              </a:rPr>
              <a:t> </a:t>
            </a:r>
            <a:r>
              <a:rPr lang="en-US" sz="3000" b="1" dirty="0" err="1">
                <a:solidFill>
                  <a:srgbClr val="C4151C"/>
                </a:solidFill>
                <a:latin typeface="Calibri"/>
              </a:rPr>
              <a:t>vùng</a:t>
            </a:r>
            <a:r>
              <a:rPr lang="en-US" sz="3000" b="1" dirty="0">
                <a:solidFill>
                  <a:srgbClr val="C4151C"/>
                </a:solidFill>
                <a:latin typeface="Calibri"/>
              </a:rPr>
              <a:t> </a:t>
            </a:r>
            <a:r>
              <a:rPr lang="en-US" sz="3000" b="1" dirty="0" err="1">
                <a:solidFill>
                  <a:srgbClr val="C4151C"/>
                </a:solidFill>
                <a:latin typeface="Calibri"/>
              </a:rPr>
              <a:t>và</a:t>
            </a:r>
            <a:r>
              <a:rPr sz="3000" b="1" i="0" dirty="0">
                <a:solidFill>
                  <a:srgbClr val="C4151C"/>
                </a:solidFill>
                <a:latin typeface="Calibri"/>
              </a:rPr>
              <a:t> </a:t>
            </a:r>
            <a:r>
              <a:rPr sz="3000" b="1" i="0" dirty="0" err="1">
                <a:solidFill>
                  <a:srgbClr val="C4151C"/>
                </a:solidFill>
                <a:latin typeface="Calibri"/>
              </a:rPr>
              <a:t>hình</a:t>
            </a:r>
            <a:r>
              <a:rPr sz="3000" b="1" i="0" dirty="0">
                <a:solidFill>
                  <a:srgbClr val="C4151C"/>
                </a:solidFill>
                <a:latin typeface="Calibri"/>
              </a:rPr>
              <a:t> </a:t>
            </a:r>
            <a:r>
              <a:rPr sz="3000" b="1" i="0" dirty="0" err="1">
                <a:solidFill>
                  <a:srgbClr val="C4151C"/>
                </a:solidFill>
                <a:latin typeface="Calibri"/>
              </a:rPr>
              <a:t>dạng</a:t>
            </a:r>
            <a:r>
              <a:rPr sz="3000" b="1" i="0" dirty="0">
                <a:solidFill>
                  <a:srgbClr val="C4151C"/>
                </a:solidFill>
                <a:latin typeface="Calibri"/>
              </a:rPr>
              <a:t> </a:t>
            </a:r>
            <a:r>
              <a:rPr sz="3000" b="1" i="0" dirty="0" err="1">
                <a:solidFill>
                  <a:srgbClr val="C4151C"/>
                </a:solidFill>
                <a:latin typeface="Calibri"/>
              </a:rPr>
              <a:t>vùng</a:t>
            </a:r>
            <a:endParaRPr sz="3000" b="1" i="0" dirty="0">
              <a:solidFill>
                <a:srgbClr val="C4151C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548640" cy="45720"/>
          </a:xfrm>
          <a:prstGeom prst="rect">
            <a:avLst/>
          </a:prstGeom>
          <a:solidFill>
            <a:srgbClr val="FFC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7299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HỆ THỐNG THEO DÕI VỊ TRÍ TRẺ EM THEO THỜI GIAN THỰC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72998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874519"/>
            <a:ext cx="6675120" cy="416052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1874519"/>
            <a:ext cx="64008" cy="416052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1993392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2222"/>
                </a:solidFill>
                <a:latin typeface="Calibri"/>
              </a:rPr>
              <a:t>Chế độ FIXED — tâm cố định do phụ huynh đặt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450592"/>
            <a:ext cx="61264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542032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33333"/>
                </a:solidFill>
                <a:latin typeface="Calibri"/>
              </a:rPr>
              <a:t>a. Hình tròn  (path rỗng)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871216"/>
            <a:ext cx="5760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-201168">
              <a:lnSpc>
                <a:spcPct val="108000"/>
              </a:lnSpc>
              <a:spcAft>
                <a:spcPts val="400"/>
              </a:spcAft>
              <a:buClr>
                <a:srgbClr val="333333"/>
              </a:buClr>
              <a:buFont typeface="Calibri"/>
              <a:buChar char="—"/>
            </a:pPr>
            <a:r>
              <a:rPr sz="1250" b="0">
                <a:solidFill>
                  <a:srgbClr val="222222"/>
                </a:solidFill>
                <a:latin typeface="Calibri"/>
              </a:rPr>
              <a:t>Khoảng cách Haversine từ vị trí hiện tại đến tâm cố định</a:t>
            </a:r>
          </a:p>
          <a:p>
            <a:pPr marL="0" indent="-201168">
              <a:lnSpc>
                <a:spcPct val="108000"/>
              </a:lnSpc>
              <a:spcAft>
                <a:spcPts val="400"/>
              </a:spcAft>
              <a:buClr>
                <a:srgbClr val="333333"/>
              </a:buClr>
              <a:buFont typeface="Calibri"/>
              <a:buChar char="—"/>
            </a:pPr>
            <a:r>
              <a:rPr sz="1250" b="0">
                <a:solidFill>
                  <a:srgbClr val="222222"/>
                </a:solidFill>
                <a:latin typeface="Calibri"/>
              </a:rPr>
              <a:t>Vi phạm khi khoảng cách d &gt; radiusM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60520"/>
            <a:ext cx="612648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251960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33333"/>
                </a:solidFill>
                <a:latin typeface="Calibri"/>
              </a:rPr>
              <a:t>b. Hành lang đường đi  (path ≥ 2 điểm)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581144"/>
            <a:ext cx="576072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-201168">
              <a:lnSpc>
                <a:spcPct val="108000"/>
              </a:lnSpc>
              <a:spcAft>
                <a:spcPts val="400"/>
              </a:spcAft>
              <a:buClr>
                <a:srgbClr val="333333"/>
              </a:buClr>
              <a:buFont typeface="Calibri"/>
              <a:buChar char="—"/>
            </a:pPr>
            <a:r>
              <a:rPr sz="1250" b="0">
                <a:solidFill>
                  <a:srgbClr val="222222"/>
                </a:solidFill>
                <a:latin typeface="Calibri"/>
              </a:rPr>
              <a:t>Chiếu vị trí lên từng đoạn thẳng của tuyến đường (point-to-segment)</a:t>
            </a:r>
          </a:p>
          <a:p>
            <a:pPr marL="0" indent="-201168">
              <a:lnSpc>
                <a:spcPct val="108000"/>
              </a:lnSpc>
              <a:spcAft>
                <a:spcPts val="400"/>
              </a:spcAft>
              <a:buClr>
                <a:srgbClr val="333333"/>
              </a:buClr>
              <a:buFont typeface="Calibri"/>
              <a:buChar char="—"/>
            </a:pPr>
            <a:r>
              <a:rPr sz="1250" b="0">
                <a:solidFill>
                  <a:srgbClr val="222222"/>
                </a:solidFill>
                <a:latin typeface="Calibri"/>
              </a:rPr>
              <a:t>Vi phạm khi khoảng cách nhỏ nhất trong các đoạn &gt; bán kính hành lang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874519"/>
            <a:ext cx="4251960" cy="416052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06640" y="1874519"/>
            <a:ext cx="64008" cy="416052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80960" y="2039111"/>
            <a:ext cx="3794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2222"/>
                </a:solidFill>
                <a:latin typeface="Calibri"/>
              </a:rPr>
              <a:t>Chế độ MOBILE — tâm động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468879"/>
            <a:ext cx="3749040" cy="3429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595959"/>
              </a:buClr>
              <a:buFont typeface="Calibri"/>
              <a:buChar char="—"/>
            </a:pPr>
            <a:r>
              <a:rPr sz="1350" b="0">
                <a:solidFill>
                  <a:srgbClr val="222222"/>
                </a:solidFill>
                <a:latin typeface="Calibri"/>
              </a:rPr>
              <a:t>Tâm KHÔNG cố định: đồng bộ theo vị trí GPS điện thoại phụ huynh mỗi ~10 giây</a:t>
            </a: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595959"/>
              </a:buClr>
              <a:buFont typeface="Calibri"/>
              <a:buChar char="—"/>
            </a:pPr>
            <a:r>
              <a:rPr sz="1350" b="0">
                <a:solidFill>
                  <a:srgbClr val="222222"/>
                </a:solidFill>
                <a:latin typeface="Calibri"/>
              </a:rPr>
              <a:t>Luôn là hình tròn quanh vị trí tức thời — không áp dụng hình dạng đường đi</a:t>
            </a: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595959"/>
              </a:buClr>
              <a:buFont typeface="Calibri"/>
              <a:buChar char="—"/>
            </a:pPr>
            <a:r>
              <a:rPr sz="1350" b="0">
                <a:solidFill>
                  <a:srgbClr val="222222"/>
                </a:solidFill>
                <a:latin typeface="Calibri"/>
              </a:rPr>
              <a:t>Phù hợp khi muốn 'trẻ luôn cách tôi trong bán kính X mét' thay vì gắn với một điểm cố định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17220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22222"/>
                </a:solidFill>
                <a:latin typeface="Calibri"/>
              </a:rPr>
              <a:t>→ Trường mode lưu 'fixed' / 'mobile'; hình dạng tròn hay đường đi được suy ra từ dữ liệu path, độc lập với mode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4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hus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354" y="219456"/>
            <a:ext cx="295421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4151C"/>
                </a:solidFill>
                <a:latin typeface="Calibri"/>
              </a:rPr>
              <a:t>04  ĐÓNG GÓP KỸ THUẬT NỔI BẬT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C4151C"/>
                </a:solidFill>
                <a:latin typeface="Calibri"/>
              </a:rPr>
              <a:t>Đóng góp 3: Kiến trúc lai MQTT – WebSocket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548640" cy="45720"/>
          </a:xfrm>
          <a:prstGeom prst="rect">
            <a:avLst/>
          </a:prstGeom>
          <a:solidFill>
            <a:srgbClr val="FFC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7299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HỆ THỐNG THEO DÕI VỊ TRÍ TRẺ EM THEO THỜI GIAN THỰC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72998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45920"/>
            <a:ext cx="585216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-201168">
              <a:lnSpc>
                <a:spcPct val="108000"/>
              </a:lnSpc>
              <a:spcAft>
                <a:spcPts val="1000"/>
              </a:spcAft>
              <a:buClr>
                <a:srgbClr val="333333"/>
              </a:buClr>
              <a:buFont typeface="Calibri"/>
              <a:buChar char="—"/>
            </a:pPr>
            <a:r>
              <a:rPr sz="1500" b="0">
                <a:solidFill>
                  <a:srgbClr val="222222"/>
                </a:solidFill>
                <a:latin typeface="Calibri"/>
              </a:rPr>
              <a:t>Không giao thức đơn lẻ nào tối ưu cho cả 2 chặng: thiết bị→server (MQTT) và server→ứng dụng (WebSocket)</a:t>
            </a:r>
          </a:p>
          <a:p>
            <a:pPr marL="0" indent="-201168">
              <a:lnSpc>
                <a:spcPct val="108000"/>
              </a:lnSpc>
              <a:spcAft>
                <a:spcPts val="1000"/>
              </a:spcAft>
              <a:buClr>
                <a:srgbClr val="333333"/>
              </a:buClr>
              <a:buFont typeface="Calibri"/>
              <a:buChar char="—"/>
            </a:pPr>
            <a:r>
              <a:rPr sz="1500" b="0">
                <a:solidFill>
                  <a:srgbClr val="222222"/>
                </a:solidFill>
                <a:latin typeface="Calibri"/>
              </a:rPr>
              <a:t>Backend đóng vai trò cầu nối (bridge) giữa hai giao thức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852160" cy="283464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64008" cy="283464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731472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 err="1">
                <a:solidFill>
                  <a:srgbClr val="222222"/>
                </a:solidFill>
                <a:latin typeface="Calibri"/>
              </a:rPr>
              <a:t>Cơ</a:t>
            </a:r>
            <a:r>
              <a:rPr sz="1600" b="1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222222"/>
                </a:solidFill>
                <a:latin typeface="Calibri"/>
              </a:rPr>
              <a:t>chế</a:t>
            </a:r>
            <a:r>
              <a:rPr sz="1600" b="1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222222"/>
                </a:solidFill>
                <a:latin typeface="Calibri"/>
              </a:rPr>
              <a:t>cầu</a:t>
            </a:r>
            <a:r>
              <a:rPr sz="1600" b="1" i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222222"/>
                </a:solidFill>
                <a:latin typeface="Calibri"/>
              </a:rPr>
              <a:t>nối</a:t>
            </a:r>
            <a:endParaRPr sz="1600" b="1" i="0" dirty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4105995"/>
            <a:ext cx="534924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333333"/>
              </a:buClr>
              <a:buFont typeface="Calibri"/>
              <a:buChar char="—"/>
            </a:pPr>
            <a:r>
              <a:rPr sz="1350" b="0" dirty="0">
                <a:solidFill>
                  <a:srgbClr val="222222"/>
                </a:solidFill>
                <a:latin typeface="Calibri"/>
              </a:rPr>
              <a:t>MQTT callback (</a:t>
            </a:r>
            <a:r>
              <a:rPr sz="1350" b="0" dirty="0" err="1">
                <a:solidFill>
                  <a:srgbClr val="222222"/>
                </a:solidFill>
                <a:latin typeface="Calibri"/>
              </a:rPr>
              <a:t>đồng</a:t>
            </a:r>
            <a:r>
              <a:rPr sz="135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Calibri"/>
              </a:rPr>
              <a:t>bộ</a:t>
            </a:r>
            <a:r>
              <a:rPr sz="1350" b="0" dirty="0">
                <a:solidFill>
                  <a:srgbClr val="222222"/>
                </a:solidFill>
                <a:latin typeface="Calibri"/>
              </a:rPr>
              <a:t>, thread </a:t>
            </a:r>
            <a:r>
              <a:rPr sz="1350" b="0" dirty="0" err="1">
                <a:solidFill>
                  <a:srgbClr val="222222"/>
                </a:solidFill>
                <a:latin typeface="Calibri"/>
              </a:rPr>
              <a:t>riêng</a:t>
            </a:r>
            <a:r>
              <a:rPr sz="1350" b="0" dirty="0">
                <a:solidFill>
                  <a:srgbClr val="222222"/>
                </a:solidFill>
                <a:latin typeface="Calibri"/>
              </a:rPr>
              <a:t>) → </a:t>
            </a:r>
            <a:r>
              <a:rPr sz="1350" b="0" dirty="0" err="1">
                <a:solidFill>
                  <a:srgbClr val="222222"/>
                </a:solidFill>
                <a:latin typeface="Calibri"/>
              </a:rPr>
              <a:t>đẩy</a:t>
            </a:r>
            <a:r>
              <a:rPr sz="135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Calibri"/>
              </a:rPr>
              <a:t>vào</a:t>
            </a:r>
            <a:r>
              <a:rPr sz="135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Calibri"/>
              </a:rPr>
              <a:t>asyncio.Queue</a:t>
            </a:r>
            <a:endParaRPr sz="1350" b="0" dirty="0">
              <a:solidFill>
                <a:srgbClr val="222222"/>
              </a:solidFill>
              <a:latin typeface="Calibri"/>
            </a:endParaRP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333333"/>
              </a:buClr>
              <a:buFont typeface="Calibri"/>
              <a:buChar char="—"/>
            </a:pPr>
            <a:r>
              <a:rPr sz="1350" b="0" dirty="0">
                <a:solidFill>
                  <a:srgbClr val="222222"/>
                </a:solidFill>
                <a:latin typeface="Calibri"/>
              </a:rPr>
              <a:t>Coroutine </a:t>
            </a:r>
            <a:r>
              <a:rPr sz="1350" b="0" dirty="0" err="1">
                <a:solidFill>
                  <a:srgbClr val="222222"/>
                </a:solidFill>
                <a:latin typeface="Calibri"/>
              </a:rPr>
              <a:t>nền</a:t>
            </a:r>
            <a:r>
              <a:rPr sz="135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Calibri"/>
              </a:rPr>
              <a:t>đọc</a:t>
            </a:r>
            <a:r>
              <a:rPr sz="135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Calibri"/>
              </a:rPr>
              <a:t>hàng</a:t>
            </a:r>
            <a:r>
              <a:rPr sz="135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Calibri"/>
              </a:rPr>
              <a:t>đợi</a:t>
            </a:r>
            <a:r>
              <a:rPr sz="1350" b="0" dirty="0">
                <a:solidFill>
                  <a:srgbClr val="222222"/>
                </a:solidFill>
                <a:latin typeface="Calibri"/>
              </a:rPr>
              <a:t> → broadcast qua WebSocket </a:t>
            </a:r>
            <a:r>
              <a:rPr sz="1350" b="0" dirty="0" err="1">
                <a:solidFill>
                  <a:srgbClr val="222222"/>
                </a:solidFill>
                <a:latin typeface="Calibri"/>
              </a:rPr>
              <a:t>đến</a:t>
            </a:r>
            <a:r>
              <a:rPr sz="135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Calibri"/>
              </a:rPr>
              <a:t>các</a:t>
            </a:r>
            <a:r>
              <a:rPr sz="1350" b="0" dirty="0">
                <a:solidFill>
                  <a:srgbClr val="222222"/>
                </a:solidFill>
                <a:latin typeface="Calibri"/>
              </a:rPr>
              <a:t> app </a:t>
            </a:r>
            <a:r>
              <a:rPr sz="1350" b="0" dirty="0" err="1">
                <a:solidFill>
                  <a:srgbClr val="222222"/>
                </a:solidFill>
                <a:latin typeface="Calibri"/>
              </a:rPr>
              <a:t>đang</a:t>
            </a:r>
            <a:r>
              <a:rPr sz="135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Calibri"/>
              </a:rPr>
              <a:t>theo</a:t>
            </a:r>
            <a:r>
              <a:rPr sz="135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Calibri"/>
              </a:rPr>
              <a:t>dõi</a:t>
            </a:r>
            <a:endParaRPr sz="1350" b="0" dirty="0">
              <a:solidFill>
                <a:srgbClr val="222222"/>
              </a:solidFill>
              <a:latin typeface="Calibri"/>
            </a:endParaRP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333333"/>
              </a:buClr>
              <a:buFont typeface="Calibri"/>
              <a:buChar char="—"/>
            </a:pPr>
            <a:r>
              <a:rPr sz="1350" b="0" dirty="0" err="1">
                <a:solidFill>
                  <a:srgbClr val="222222"/>
                </a:solidFill>
                <a:latin typeface="Calibri"/>
              </a:rPr>
              <a:t>Tách</a:t>
            </a:r>
            <a:r>
              <a:rPr sz="135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Calibri"/>
              </a:rPr>
              <a:t>bạch</a:t>
            </a:r>
            <a:r>
              <a:rPr sz="1350" b="0" dirty="0">
                <a:solidFill>
                  <a:srgbClr val="222222"/>
                </a:solidFill>
                <a:latin typeface="Calibri"/>
              </a:rPr>
              <a:t>: </a:t>
            </a:r>
            <a:r>
              <a:rPr sz="1350" b="0" dirty="0" err="1">
                <a:solidFill>
                  <a:srgbClr val="222222"/>
                </a:solidFill>
                <a:latin typeface="Calibri"/>
              </a:rPr>
              <a:t>thiết</a:t>
            </a:r>
            <a:r>
              <a:rPr sz="135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Calibri"/>
              </a:rPr>
              <a:t>bị</a:t>
            </a:r>
            <a:r>
              <a:rPr sz="135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Calibri"/>
              </a:rPr>
              <a:t>chỉ</a:t>
            </a:r>
            <a:r>
              <a:rPr sz="135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Calibri"/>
              </a:rPr>
              <a:t>biết</a:t>
            </a:r>
            <a:r>
              <a:rPr sz="1350" b="0" dirty="0">
                <a:solidFill>
                  <a:srgbClr val="222222"/>
                </a:solidFill>
                <a:latin typeface="Calibri"/>
              </a:rPr>
              <a:t> MQTT broker, app </a:t>
            </a:r>
            <a:r>
              <a:rPr sz="1350" b="0" dirty="0" err="1">
                <a:solidFill>
                  <a:srgbClr val="222222"/>
                </a:solidFill>
                <a:latin typeface="Calibri"/>
              </a:rPr>
              <a:t>chỉ</a:t>
            </a:r>
            <a:r>
              <a:rPr sz="135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Calibri"/>
              </a:rPr>
              <a:t>biết</a:t>
            </a:r>
            <a:r>
              <a:rPr sz="1350" b="0" dirty="0">
                <a:solidFill>
                  <a:srgbClr val="222222"/>
                </a:solidFill>
                <a:latin typeface="Calibri"/>
              </a:rPr>
              <a:t> WebSocket backend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45580" y="2348223"/>
            <a:ext cx="5196840" cy="289307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sequence_vit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386323"/>
            <a:ext cx="5120640" cy="28168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4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hus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354" y="219456"/>
            <a:ext cx="295421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4151C"/>
                </a:solidFill>
                <a:latin typeface="Calibri"/>
              </a:rPr>
              <a:t>04  ĐÓNG GÓP KỸ THUẬT NỔI BẬT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05840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 dirty="0" err="1">
                <a:solidFill>
                  <a:srgbClr val="C4151C"/>
                </a:solidFill>
                <a:latin typeface="Calibri"/>
              </a:rPr>
              <a:t>Biểu</a:t>
            </a:r>
            <a:r>
              <a:rPr sz="3000" b="1" i="0" dirty="0">
                <a:solidFill>
                  <a:srgbClr val="C4151C"/>
                </a:solidFill>
                <a:latin typeface="Calibri"/>
              </a:rPr>
              <a:t> </a:t>
            </a:r>
            <a:r>
              <a:rPr sz="3000" b="1" i="0" dirty="0" err="1">
                <a:solidFill>
                  <a:srgbClr val="C4151C"/>
                </a:solidFill>
                <a:latin typeface="Calibri"/>
              </a:rPr>
              <a:t>đồ</a:t>
            </a:r>
            <a:r>
              <a:rPr sz="3000" b="1" i="0" dirty="0">
                <a:solidFill>
                  <a:srgbClr val="C4151C"/>
                </a:solidFill>
                <a:latin typeface="Calibri"/>
              </a:rPr>
              <a:t> </a:t>
            </a:r>
            <a:r>
              <a:rPr sz="3000" b="1" i="0" dirty="0" err="1">
                <a:solidFill>
                  <a:srgbClr val="C4151C"/>
                </a:solidFill>
                <a:latin typeface="Calibri"/>
              </a:rPr>
              <a:t>tuần</a:t>
            </a:r>
            <a:r>
              <a:rPr sz="3000" b="1" i="0" dirty="0">
                <a:solidFill>
                  <a:srgbClr val="C4151C"/>
                </a:solidFill>
                <a:latin typeface="Calibri"/>
              </a:rPr>
              <a:t> </a:t>
            </a:r>
            <a:r>
              <a:rPr sz="3000" b="1" i="0" dirty="0" err="1">
                <a:solidFill>
                  <a:srgbClr val="C4151C"/>
                </a:solidFill>
                <a:latin typeface="Calibri"/>
              </a:rPr>
              <a:t>tự</a:t>
            </a:r>
            <a:r>
              <a:rPr sz="3000" b="1" i="0" dirty="0">
                <a:solidFill>
                  <a:srgbClr val="C4151C"/>
                </a:solidFill>
                <a:latin typeface="Calibri"/>
              </a:rPr>
              <a:t> (SD02): </a:t>
            </a:r>
            <a:r>
              <a:rPr lang="en-US" sz="3000" b="1" i="0" dirty="0" err="1">
                <a:solidFill>
                  <a:srgbClr val="C4151C"/>
                </a:solidFill>
                <a:latin typeface="Calibri"/>
              </a:rPr>
              <a:t>Nhận</a:t>
            </a:r>
            <a:r>
              <a:rPr lang="en-US" sz="3000" b="1" i="0" dirty="0">
                <a:solidFill>
                  <a:srgbClr val="C4151C"/>
                </a:solidFill>
                <a:latin typeface="Calibri"/>
              </a:rPr>
              <a:t> </a:t>
            </a:r>
            <a:r>
              <a:rPr lang="en-US" sz="3000" b="1" i="0" dirty="0" err="1">
                <a:solidFill>
                  <a:srgbClr val="C4151C"/>
                </a:solidFill>
                <a:latin typeface="Calibri"/>
              </a:rPr>
              <a:t>cảnh</a:t>
            </a:r>
            <a:r>
              <a:rPr lang="en-US" sz="3000" b="1" i="0" dirty="0">
                <a:solidFill>
                  <a:srgbClr val="C4151C"/>
                </a:solidFill>
                <a:latin typeface="Calibri"/>
              </a:rPr>
              <a:t> </a:t>
            </a:r>
            <a:r>
              <a:rPr lang="en-US" sz="3000" b="1" i="0" dirty="0" err="1">
                <a:solidFill>
                  <a:srgbClr val="C4151C"/>
                </a:solidFill>
                <a:latin typeface="Calibri"/>
              </a:rPr>
              <a:t>báo</a:t>
            </a:r>
            <a:r>
              <a:rPr lang="en-US" sz="3000" b="1" i="0" dirty="0">
                <a:solidFill>
                  <a:srgbClr val="C4151C"/>
                </a:solidFill>
                <a:latin typeface="Calibri"/>
              </a:rPr>
              <a:t> </a:t>
            </a:r>
            <a:r>
              <a:rPr lang="en-US" sz="3000" b="1" i="0" dirty="0" err="1">
                <a:solidFill>
                  <a:srgbClr val="C4151C"/>
                </a:solidFill>
                <a:latin typeface="Calibri"/>
              </a:rPr>
              <a:t>tự</a:t>
            </a:r>
            <a:r>
              <a:rPr lang="en-US" sz="3000" b="1" i="0" dirty="0">
                <a:solidFill>
                  <a:srgbClr val="C4151C"/>
                </a:solidFill>
                <a:latin typeface="Calibri"/>
              </a:rPr>
              <a:t> </a:t>
            </a:r>
            <a:r>
              <a:rPr lang="en-US" sz="3000" b="1" i="0" dirty="0" err="1">
                <a:solidFill>
                  <a:srgbClr val="C4151C"/>
                </a:solidFill>
                <a:latin typeface="Calibri"/>
              </a:rPr>
              <a:t>động</a:t>
            </a:r>
            <a:endParaRPr sz="3000" b="1" i="0" dirty="0">
              <a:solidFill>
                <a:srgbClr val="C4151C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548640" cy="45720"/>
          </a:xfrm>
          <a:prstGeom prst="rect">
            <a:avLst/>
          </a:prstGeom>
          <a:solidFill>
            <a:srgbClr val="FFC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7299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HỆ THỐNG THEO DÕI VỊ TRÍ TRẺ EM THEO THỜI GIAN THỰC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72998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18503" y="1562100"/>
            <a:ext cx="6370233" cy="3916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equence_geof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1736" y="1190537"/>
            <a:ext cx="6932464" cy="42300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5532120"/>
            <a:ext cx="106984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333333"/>
              </a:buClr>
              <a:buFont typeface="Calibri"/>
              <a:buChar char="—"/>
            </a:pPr>
            <a:r>
              <a:rPr sz="1350" b="0">
                <a:solidFill>
                  <a:srgbClr val="222222"/>
                </a:solidFill>
                <a:latin typeface="Calibri"/>
              </a:rPr>
              <a:t>Tiếp nối luồng SD01 (cập nhật vị trí): Backend kiểm tra geofence ngay khi nhận tọa độ mới</a:t>
            </a: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333333"/>
              </a:buClr>
              <a:buFont typeface="Calibri"/>
              <a:buChar char="—"/>
            </a:pPr>
            <a:r>
              <a:rPr sz="1350" b="0">
                <a:solidFill>
                  <a:srgbClr val="222222"/>
                </a:solidFill>
                <a:latin typeface="Calibri"/>
              </a:rPr>
              <a:t>Khi phát hiện vi phạm: lưu bản ghi cảnh báo → gửi Telegram/Email → phát cảnh báo qua WebSocket tới ứng dụng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4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hus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354" y="219456"/>
            <a:ext cx="295421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4151C"/>
                </a:solidFill>
                <a:latin typeface="Calibri"/>
              </a:rPr>
              <a:t>04  ĐÓNG GÓP KỸ THUẬT NỔI BẬT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C4151C"/>
                </a:solidFill>
                <a:latin typeface="Calibri"/>
              </a:rPr>
              <a:t>Biểu đồ tuần tự (SD03): Gửi tín hiệu SOS khẩn cấp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548640" cy="45720"/>
          </a:xfrm>
          <a:prstGeom prst="rect">
            <a:avLst/>
          </a:prstGeom>
          <a:solidFill>
            <a:srgbClr val="FFC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7299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HỆ THỐNG THEO DÕI VỊ TRÍ TRẺ EM THEO THỜI GIAN THỰC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72998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36194" y="1562100"/>
            <a:ext cx="6934850" cy="3916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equence_s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4294" y="1600200"/>
            <a:ext cx="6858650" cy="3840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5532120"/>
            <a:ext cx="1069848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333333"/>
              </a:buClr>
              <a:buFont typeface="Calibri"/>
              <a:buChar char="—"/>
            </a:pPr>
            <a:r>
              <a:rPr sz="1350" b="0">
                <a:solidFill>
                  <a:srgbClr val="222222"/>
                </a:solidFill>
                <a:latin typeface="Calibri"/>
              </a:rPr>
              <a:t>ESP32 đọc tọa độ hiện tại và gửi ngay tín hiệu SOS qua MQTT khi trẻ nhấn nút</a:t>
            </a: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333333"/>
              </a:buClr>
              <a:buFont typeface="Calibri"/>
              <a:buChar char="—"/>
            </a:pPr>
            <a:r>
              <a:rPr sz="1350" b="0">
                <a:solidFill>
                  <a:srgbClr val="222222"/>
                </a:solidFill>
                <a:latin typeface="Calibri"/>
              </a:rPr>
              <a:t>Backend phát hiện, lưu cảnh báo khẩn và gửi ngay thông báo SOS kèm liên kết Google Maps tới phụ huynh qua Telegram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4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hus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354" y="219456"/>
            <a:ext cx="295421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4151C"/>
                </a:solidFill>
                <a:latin typeface="Calibri"/>
              </a:rPr>
              <a:t>04  ĐÓNG GÓP KỸ THUẬT NỔI BẬT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C4151C"/>
                </a:solidFill>
                <a:latin typeface="Calibri"/>
              </a:rPr>
              <a:t>Đóng góp 4: Cảnh báo đa kênh song song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548640" cy="45720"/>
          </a:xfrm>
          <a:prstGeom prst="rect">
            <a:avLst/>
          </a:prstGeom>
          <a:solidFill>
            <a:srgbClr val="FFC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7299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HỆ THỐNG THEO DÕI VỊ TRÍ TRẺ EM THEO THỜI GIAN THỰC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72998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98694" y="1664547"/>
            <a:ext cx="3611880" cy="2286000"/>
          </a:xfrm>
          <a:prstGeom prst="roundRect">
            <a:avLst>
              <a:gd name="adj" fmla="val 7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27294" y="1869948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dirty="0">
                <a:solidFill>
                  <a:srgbClr val="FFFFFF"/>
                </a:solidFill>
                <a:latin typeface="Calibri"/>
              </a:rPr>
              <a:t>WebSocket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294" y="2350347"/>
            <a:ext cx="31546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 dirty="0">
                <a:solidFill>
                  <a:srgbClr val="FFFFFF"/>
                </a:solidFill>
                <a:latin typeface="Calibri"/>
              </a:rPr>
              <a:t>Trong </a:t>
            </a:r>
            <a:r>
              <a:rPr sz="1250" b="0" i="0" dirty="0" err="1">
                <a:solidFill>
                  <a:srgbClr val="FFFFFF"/>
                </a:solidFill>
                <a:latin typeface="Calibri"/>
              </a:rPr>
              <a:t>ứng</a:t>
            </a:r>
            <a:r>
              <a:rPr sz="125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Calibri"/>
              </a:rPr>
              <a:t>dụng</a:t>
            </a:r>
            <a:r>
              <a:rPr sz="1250" b="0" i="0" dirty="0">
                <a:solidFill>
                  <a:srgbClr val="FFFFFF"/>
                </a:solidFill>
                <a:latin typeface="Calibri"/>
              </a:rPr>
              <a:t>, </a:t>
            </a:r>
            <a:r>
              <a:rPr sz="1250" b="0" i="0" dirty="0" err="1">
                <a:solidFill>
                  <a:srgbClr val="FFFFFF"/>
                </a:solidFill>
                <a:latin typeface="Calibri"/>
              </a:rPr>
              <a:t>độ</a:t>
            </a:r>
            <a:r>
              <a:rPr sz="125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Calibri"/>
              </a:rPr>
              <a:t>trễ</a:t>
            </a:r>
            <a:r>
              <a:rPr sz="125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Calibri"/>
              </a:rPr>
              <a:t>thấp</a:t>
            </a:r>
            <a:r>
              <a:rPr sz="125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Calibri"/>
              </a:rPr>
              <a:t>nhất</a:t>
            </a:r>
            <a:r>
              <a:rPr sz="1250" b="0" i="0" dirty="0">
                <a:solidFill>
                  <a:srgbClr val="FFFFFF"/>
                </a:solidFill>
                <a:latin typeface="Calibri"/>
              </a:rPr>
              <a:t>; </a:t>
            </a:r>
            <a:r>
              <a:rPr sz="1250" b="0" i="0" dirty="0" err="1">
                <a:solidFill>
                  <a:srgbClr val="FFFFFF"/>
                </a:solidFill>
                <a:latin typeface="Calibri"/>
              </a:rPr>
              <a:t>chỉ</a:t>
            </a:r>
            <a:r>
              <a:rPr sz="125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Calibri"/>
              </a:rPr>
              <a:t>hoạt</a:t>
            </a:r>
            <a:r>
              <a:rPr sz="125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Calibri"/>
              </a:rPr>
              <a:t>động</a:t>
            </a:r>
            <a:r>
              <a:rPr sz="125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Calibri"/>
              </a:rPr>
              <a:t>khi</a:t>
            </a:r>
            <a:r>
              <a:rPr sz="1250" b="0" i="0" dirty="0">
                <a:solidFill>
                  <a:srgbClr val="FFFFFF"/>
                </a:solidFill>
                <a:latin typeface="Calibri"/>
              </a:rPr>
              <a:t> app </a:t>
            </a:r>
            <a:r>
              <a:rPr sz="1250" b="0" i="0" dirty="0" err="1">
                <a:solidFill>
                  <a:srgbClr val="FFFFFF"/>
                </a:solidFill>
                <a:latin typeface="Calibri"/>
              </a:rPr>
              <a:t>đang</a:t>
            </a:r>
            <a:r>
              <a:rPr sz="125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50" b="0" i="0" dirty="0" err="1">
                <a:solidFill>
                  <a:srgbClr val="FFFFFF"/>
                </a:solidFill>
                <a:latin typeface="Calibri"/>
              </a:rPr>
              <a:t>mở</a:t>
            </a:r>
            <a:endParaRPr sz="125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702214" y="1664547"/>
            <a:ext cx="3611880" cy="2286000"/>
          </a:xfrm>
          <a:prstGeom prst="roundRect">
            <a:avLst>
              <a:gd name="adj" fmla="val 7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30814" y="1847426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Telegram Bot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0814" y="2350347"/>
            <a:ext cx="31546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Kèm tọa độ + link Google Maps; hoạt động độc lập với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874519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Email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251960"/>
            <a:ext cx="11155680" cy="5896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-201168">
              <a:lnSpc>
                <a:spcPct val="108000"/>
              </a:lnSpc>
              <a:spcAft>
                <a:spcPts val="800"/>
              </a:spcAft>
              <a:buClr>
                <a:srgbClr val="333333"/>
              </a:buClr>
              <a:buFont typeface="Calibri"/>
              <a:buChar char="—"/>
            </a:pPr>
            <a:r>
              <a:rPr sz="1500" b="0" dirty="0" err="1">
                <a:solidFill>
                  <a:srgbClr val="222222"/>
                </a:solidFill>
                <a:latin typeface="Calibri"/>
              </a:rPr>
              <a:t>Cả</a:t>
            </a:r>
            <a:r>
              <a:rPr sz="15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lang="en-US" sz="1500" b="0" dirty="0">
                <a:solidFill>
                  <a:srgbClr val="222222"/>
                </a:solidFill>
                <a:latin typeface="Calibri"/>
              </a:rPr>
              <a:t>2</a:t>
            </a:r>
            <a:r>
              <a:rPr sz="15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Calibri"/>
              </a:rPr>
              <a:t>kênh</a:t>
            </a:r>
            <a:r>
              <a:rPr sz="15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Calibri"/>
              </a:rPr>
              <a:t>gọi</a:t>
            </a:r>
            <a:r>
              <a:rPr sz="1500" b="0" dirty="0">
                <a:solidFill>
                  <a:srgbClr val="222222"/>
                </a:solidFill>
                <a:latin typeface="Calibri"/>
              </a:rPr>
              <a:t> song </a:t>
            </a:r>
            <a:r>
              <a:rPr sz="1500" b="0" dirty="0" err="1">
                <a:solidFill>
                  <a:srgbClr val="222222"/>
                </a:solidFill>
                <a:latin typeface="Calibri"/>
              </a:rPr>
              <a:t>song</a:t>
            </a:r>
            <a:r>
              <a:rPr sz="15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Calibri"/>
              </a:rPr>
              <a:t>bằng</a:t>
            </a:r>
            <a:r>
              <a:rPr sz="15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Calibri"/>
              </a:rPr>
              <a:t>asyncio.gather</a:t>
            </a:r>
            <a:r>
              <a:rPr sz="1500" b="0" dirty="0">
                <a:solidFill>
                  <a:srgbClr val="222222"/>
                </a:solidFill>
                <a:latin typeface="Calibri"/>
              </a:rPr>
              <a:t> — </a:t>
            </a:r>
            <a:r>
              <a:rPr sz="1500" b="0" dirty="0" err="1">
                <a:solidFill>
                  <a:srgbClr val="222222"/>
                </a:solidFill>
                <a:latin typeface="Calibri"/>
              </a:rPr>
              <a:t>không</a:t>
            </a:r>
            <a:r>
              <a:rPr sz="15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Calibri"/>
              </a:rPr>
              <a:t>chờ</a:t>
            </a:r>
            <a:r>
              <a:rPr sz="15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Calibri"/>
              </a:rPr>
              <a:t>tuần</a:t>
            </a:r>
            <a:r>
              <a:rPr sz="15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Calibri"/>
              </a:rPr>
              <a:t>tự</a:t>
            </a:r>
            <a:r>
              <a:rPr sz="15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Calibri"/>
              </a:rPr>
              <a:t>từng</a:t>
            </a:r>
            <a:r>
              <a:rPr sz="15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Calibri"/>
              </a:rPr>
              <a:t>kênh</a:t>
            </a:r>
            <a:endParaRPr sz="1500" b="0" dirty="0">
              <a:solidFill>
                <a:srgbClr val="222222"/>
              </a:solidFill>
              <a:latin typeface="Calibri"/>
            </a:endParaRPr>
          </a:p>
          <a:p>
            <a:pPr marL="0" indent="-201168">
              <a:lnSpc>
                <a:spcPct val="108000"/>
              </a:lnSpc>
              <a:spcAft>
                <a:spcPts val="800"/>
              </a:spcAft>
              <a:buClr>
                <a:srgbClr val="333333"/>
              </a:buClr>
              <a:buFont typeface="Calibri"/>
              <a:buChar char="—"/>
            </a:pPr>
            <a:r>
              <a:rPr sz="1500" b="0" dirty="0" err="1">
                <a:solidFill>
                  <a:srgbClr val="222222"/>
                </a:solidFill>
                <a:latin typeface="Calibri"/>
              </a:rPr>
              <a:t>Mọi</a:t>
            </a:r>
            <a:r>
              <a:rPr sz="15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Calibri"/>
              </a:rPr>
              <a:t>sự</a:t>
            </a:r>
            <a:r>
              <a:rPr sz="15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Calibri"/>
              </a:rPr>
              <a:t>kiện</a:t>
            </a:r>
            <a:r>
              <a:rPr sz="15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Calibri"/>
              </a:rPr>
              <a:t>cảnh</a:t>
            </a:r>
            <a:r>
              <a:rPr sz="15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Calibri"/>
              </a:rPr>
              <a:t>báo</a:t>
            </a:r>
            <a:r>
              <a:rPr sz="15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Calibri"/>
              </a:rPr>
              <a:t>đều</a:t>
            </a:r>
            <a:r>
              <a:rPr sz="15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Calibri"/>
              </a:rPr>
              <a:t>ghi</a:t>
            </a:r>
            <a:r>
              <a:rPr sz="15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Calibri"/>
              </a:rPr>
              <a:t>vào</a:t>
            </a:r>
            <a:r>
              <a:rPr sz="1500" b="0" dirty="0">
                <a:solidFill>
                  <a:srgbClr val="222222"/>
                </a:solidFill>
                <a:latin typeface="Calibri"/>
              </a:rPr>
              <a:t> collection alerts </a:t>
            </a:r>
            <a:r>
              <a:rPr sz="1500" b="0" dirty="0" err="1">
                <a:solidFill>
                  <a:srgbClr val="222222"/>
                </a:solidFill>
                <a:latin typeface="Calibri"/>
              </a:rPr>
              <a:t>để</a:t>
            </a:r>
            <a:r>
              <a:rPr sz="15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Calibri"/>
              </a:rPr>
              <a:t>tra</a:t>
            </a:r>
            <a:r>
              <a:rPr sz="15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Calibri"/>
              </a:rPr>
              <a:t>cứu</a:t>
            </a:r>
            <a:r>
              <a:rPr sz="15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Calibri"/>
              </a:rPr>
              <a:t>lịch</a:t>
            </a:r>
            <a:r>
              <a:rPr sz="15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Calibri"/>
              </a:rPr>
              <a:t>sử</a:t>
            </a:r>
            <a:r>
              <a:rPr sz="15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Calibri"/>
              </a:rPr>
              <a:t>sau</a:t>
            </a:r>
            <a:r>
              <a:rPr sz="1500" b="0" dirty="0">
                <a:solidFill>
                  <a:srgbClr val="222222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Calibri"/>
              </a:rPr>
              <a:t>này</a:t>
            </a:r>
            <a:endParaRPr sz="1500" b="0" dirty="0">
              <a:solidFill>
                <a:srgbClr val="22222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4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hus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354" y="219456"/>
            <a:ext cx="295421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4151C"/>
                </a:solidFill>
                <a:latin typeface="Calibri"/>
              </a:rPr>
              <a:t>05  KẾT QUẢ &amp; ĐÁNH GIÁ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C4151C"/>
                </a:solidFill>
                <a:latin typeface="Calibri"/>
              </a:rPr>
              <a:t>Demo giao diện ứng dụng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548640" cy="45720"/>
          </a:xfrm>
          <a:prstGeom prst="rect">
            <a:avLst/>
          </a:prstGeom>
          <a:solidFill>
            <a:srgbClr val="FFC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7299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HỆ THỐNG THEO DÕI VỊ TRÍ TRẺ EM THEO THỜI GIAN THỰC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72998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7900" y="1516380"/>
            <a:ext cx="4445000" cy="2042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demo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1554480"/>
            <a:ext cx="4368800" cy="1965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3611880"/>
            <a:ext cx="5394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222222"/>
                </a:solidFill>
                <a:latin typeface="Calibri"/>
              </a:rPr>
              <a:t>Theo dõi vị trí thời gian thực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052" y="1516380"/>
            <a:ext cx="4445000" cy="2042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demo_geof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152" y="1554480"/>
            <a:ext cx="4368800" cy="1965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91072" y="3611880"/>
            <a:ext cx="5394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222222"/>
                </a:solidFill>
                <a:latin typeface="Calibri"/>
              </a:rPr>
              <a:t>Tạo &amp; chỉnh sửa vùng an toàn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7900" y="4003548"/>
            <a:ext cx="4445000" cy="2042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demo_ale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4041648"/>
            <a:ext cx="4368800" cy="19659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2920" y="6099048"/>
            <a:ext cx="5394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222222"/>
                </a:solidFill>
                <a:latin typeface="Calibri"/>
              </a:rPr>
              <a:t>Cảnh báo vi phạm / SOS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052" y="4003548"/>
            <a:ext cx="4445000" cy="2042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demo_sta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4152" y="4041648"/>
            <a:ext cx="4368800" cy="19659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291072" y="6099048"/>
            <a:ext cx="5394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222222"/>
                </a:solidFill>
                <a:latin typeface="Calibri"/>
              </a:rPr>
              <a:t>Thống kê hành trình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4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hus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354" y="219456"/>
            <a:ext cx="295421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4151C"/>
                </a:solidFill>
                <a:latin typeface="Calibri"/>
              </a:rPr>
              <a:t>05  KẾT QUẢ &amp; ĐÁNH GIÁ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C4151C"/>
                </a:solidFill>
                <a:latin typeface="Calibri"/>
              </a:rPr>
              <a:t>Kết quả kiểm thử &amp; số liệu đo thực tế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548640" cy="45720"/>
          </a:xfrm>
          <a:prstGeom prst="rect">
            <a:avLst/>
          </a:prstGeom>
          <a:solidFill>
            <a:srgbClr val="FFC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7299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HỆ THỐNG THEO DÕI VỊ TRÍ TRẺ EM THEO THỜI GIAN THỰC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72998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45920"/>
            <a:ext cx="2697480" cy="1188720"/>
          </a:xfrm>
          <a:prstGeom prst="roundRect">
            <a:avLst>
              <a:gd name="adj" fmla="val 8000"/>
            </a:avLst>
          </a:prstGeom>
          <a:solidFill>
            <a:srgbClr val="50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810512"/>
            <a:ext cx="26974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&lt; 2s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31720"/>
            <a:ext cx="2423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Độ trễ end-to-end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645920"/>
            <a:ext cx="2697480" cy="1188720"/>
          </a:xfrm>
          <a:prstGeom prst="roundRect">
            <a:avLst>
              <a:gd name="adj" fmla="val 8000"/>
            </a:avLst>
          </a:prstGeom>
          <a:solidFill>
            <a:srgbClr val="50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83280" y="1810512"/>
            <a:ext cx="26974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~3,2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331720"/>
            <a:ext cx="2423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Độ chính xác GPS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645920"/>
            <a:ext cx="2697480" cy="1188720"/>
          </a:xfrm>
          <a:prstGeom prst="roundRect">
            <a:avLst>
              <a:gd name="adj" fmla="val 8000"/>
            </a:avLst>
          </a:prstGeom>
          <a:solidFill>
            <a:srgbClr val="50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1810512"/>
            <a:ext cx="26974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5s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31720"/>
            <a:ext cx="2423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Chu kỳ cập nhật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645920"/>
            <a:ext cx="2697480" cy="1188720"/>
          </a:xfrm>
          <a:prstGeom prst="roundRect">
            <a:avLst>
              <a:gd name="adj" fmla="val 8000"/>
            </a:avLst>
          </a:prstGeom>
          <a:solidFill>
            <a:srgbClr val="505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0" y="1810512"/>
            <a:ext cx="26974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10/10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331720"/>
            <a:ext cx="2423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Test case đạt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02920" y="3108960"/>
          <a:ext cx="11201398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6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09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309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2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Mã</a:t>
                      </a:r>
                    </a:p>
                  </a:txBody>
                  <a:tcPr marL="73152" marR="73152" marT="36576" marB="36576" anchor="ctr"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Mô tả</a:t>
                      </a:r>
                    </a:p>
                  </a:txBody>
                  <a:tcPr marL="73152" marR="73152" marT="36576" marB="36576" anchor="ctr"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Kết quả mong đợi</a:t>
                      </a:r>
                    </a:p>
                  </a:txBody>
                  <a:tcPr marL="73152" marR="73152" marT="36576" marB="36576" anchor="ctr"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KQ</a:t>
                      </a:r>
                    </a:p>
                  </a:txBody>
                  <a:tcPr marL="73152" marR="73152" marT="36576" marB="36576" anchor="ctr">
                    <a:solidFill>
                      <a:srgbClr val="2B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TC01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Thiết bị gửi tọa độ hợp lệ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Bản đồ cập nhật &lt; 3 giây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333333"/>
                          </a:solidFill>
                          <a:latin typeface="Calibri"/>
                        </a:rPr>
                        <a:t>Đạt</a:t>
                      </a:r>
                    </a:p>
                  </a:txBody>
                  <a:tcPr marL="73152" marR="73152" marT="27432" marB="27432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TC03</a:t>
                      </a:r>
                    </a:p>
                  </a:txBody>
                  <a:tcPr marL="73152" marR="73152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Trẻ ra ngoài vùng an toàn</a:t>
                      </a:r>
                    </a:p>
                  </a:txBody>
                  <a:tcPr marL="73152" marR="73152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Sinh cảnh báo, gửi Telegram/Email</a:t>
                      </a:r>
                    </a:p>
                  </a:txBody>
                  <a:tcPr marL="73152" marR="73152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333333"/>
                          </a:solidFill>
                          <a:latin typeface="Calibri"/>
                        </a:rPr>
                        <a:t>Đạt</a:t>
                      </a:r>
                    </a:p>
                  </a:txBody>
                  <a:tcPr marL="73152" marR="73152" marT="27432" marB="27432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TC05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Hai cảnh báo liên tiếp trong cooldown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Chỉ gửi một cảnh báo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333333"/>
                          </a:solidFill>
                          <a:latin typeface="Calibri"/>
                        </a:rPr>
                        <a:t>Đạt</a:t>
                      </a:r>
                    </a:p>
                  </a:txBody>
                  <a:tcPr marL="73152" marR="73152" marT="27432" marB="27432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TC07</a:t>
                      </a:r>
                    </a:p>
                  </a:txBody>
                  <a:tcPr marL="73152" marR="73152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Nhấn nút SOS</a:t>
                      </a:r>
                    </a:p>
                  </a:txBody>
                  <a:tcPr marL="73152" marR="73152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Gửi cảnh báo kèm link bản đồ qua Telegram</a:t>
                      </a:r>
                    </a:p>
                  </a:txBody>
                  <a:tcPr marL="73152" marR="73152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333333"/>
                          </a:solidFill>
                          <a:latin typeface="Calibri"/>
                        </a:rPr>
                        <a:t>Đạt</a:t>
                      </a:r>
                    </a:p>
                  </a:txBody>
                  <a:tcPr marL="73152" marR="73152" marT="27432" marB="27432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TC10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Mất kết nối WebSocket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22222"/>
                          </a:solidFill>
                          <a:latin typeface="Calibri"/>
                        </a:rPr>
                        <a:t>Ứng dụng tự kết nối lại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333333"/>
                          </a:solidFill>
                          <a:latin typeface="Calibri"/>
                        </a:rPr>
                        <a:t>Đạt</a:t>
                      </a:r>
                    </a:p>
                  </a:txBody>
                  <a:tcPr marL="73152" marR="73152" marT="27432" marB="27432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02920" y="614476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95959"/>
                </a:solidFill>
                <a:latin typeface="Calibri"/>
              </a:rPr>
              <a:t>Kiểm thử hộp đen (black-box) + tích hợp đầu cuối, mô phỏng publish MQTT không cần thiết bị vật lý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4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hus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354" y="219456"/>
            <a:ext cx="295421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4151C"/>
                </a:solidFill>
                <a:latin typeface="Calibri"/>
              </a:rPr>
              <a:t>05  KẾT QUẢ &amp; ĐÁNH GIÁ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C4151C"/>
                </a:solidFill>
                <a:latin typeface="Calibri"/>
              </a:rPr>
              <a:t>So sánh tổng kết &amp; triển khai thực tế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548640" cy="45720"/>
          </a:xfrm>
          <a:prstGeom prst="rect">
            <a:avLst/>
          </a:prstGeom>
          <a:solidFill>
            <a:srgbClr val="FFC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7299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HỆ THỐNG THEO DÕI VỊ TRÍ TRẺ EM THEO THỜI GIAN THỰC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72998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45920"/>
            <a:ext cx="5440680" cy="3108960"/>
          </a:xfrm>
          <a:prstGeom prst="roundRect">
            <a:avLst>
              <a:gd name="adj" fmla="val 45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645920"/>
            <a:ext cx="64008" cy="310896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810512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22222"/>
                </a:solidFill>
                <a:latin typeface="Calibri"/>
              </a:rPr>
              <a:t>So với sản phẩm thị trường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40280"/>
            <a:ext cx="493776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333333"/>
              </a:buClr>
              <a:buFont typeface="Calibri"/>
              <a:buChar char="—"/>
            </a:pPr>
            <a:r>
              <a:rPr sz="1550" b="0">
                <a:solidFill>
                  <a:srgbClr val="222222"/>
                </a:solidFill>
                <a:latin typeface="Calibri"/>
              </a:rPr>
              <a:t>Đề tài đáp ứng đầy đủ 5/5 tiêu chí: độc lập, thời gian thực, geofence linh hoạt, cảnh báo đa kênh, chi phí thấp</a:t>
            </a: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333333"/>
              </a:buClr>
              <a:buFont typeface="Calibri"/>
              <a:buChar char="—"/>
            </a:pPr>
            <a:r>
              <a:rPr sz="1550" b="0">
                <a:solidFill>
                  <a:srgbClr val="222222"/>
                </a:solidFill>
                <a:latin typeface="Calibri"/>
              </a:rPr>
              <a:t>Mỗi sản phẩm thương mại (Life360, AirTag, GPS Tracker) chỉ đáp ứng được một phần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45920"/>
            <a:ext cx="5440680" cy="3108960"/>
          </a:xfrm>
          <a:prstGeom prst="roundRect">
            <a:avLst>
              <a:gd name="adj" fmla="val 4500"/>
            </a:avLst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645920"/>
            <a:ext cx="64008" cy="310896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1810512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22222"/>
                </a:solidFill>
                <a:latin typeface="Calibri"/>
              </a:rPr>
              <a:t>Triển khai thực tế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240280"/>
            <a:ext cx="493776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595959"/>
              </a:buClr>
              <a:buFont typeface="Calibri"/>
              <a:buChar char="—"/>
            </a:pPr>
            <a:r>
              <a:rPr sz="1550" b="0">
                <a:solidFill>
                  <a:srgbClr val="222222"/>
                </a:solidFill>
                <a:latin typeface="Calibri"/>
              </a:rPr>
              <a:t>Backend: đóng gói Docker, chạy trên Render (Uvicorn/ASGI)</a:t>
            </a: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595959"/>
              </a:buClr>
              <a:buFont typeface="Calibri"/>
              <a:buChar char="—"/>
            </a:pPr>
            <a:r>
              <a:rPr sz="1550" b="0">
                <a:solidFill>
                  <a:srgbClr val="222222"/>
                </a:solidFill>
                <a:latin typeface="Calibri"/>
              </a:rPr>
              <a:t>MongoDB Atlas — gói miễn phí, sao lưu tự động</a:t>
            </a: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595959"/>
              </a:buClr>
              <a:buFont typeface="Calibri"/>
              <a:buChar char="—"/>
            </a:pPr>
            <a:r>
              <a:rPr sz="1550" b="0">
                <a:solidFill>
                  <a:srgbClr val="222222"/>
                </a:solidFill>
                <a:latin typeface="Calibri"/>
              </a:rPr>
              <a:t>EMQX public broker — không cần tự vận hành hạ tầng</a:t>
            </a: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595959"/>
              </a:buClr>
              <a:buFont typeface="Calibri"/>
              <a:buChar char="—"/>
            </a:pPr>
            <a:r>
              <a:rPr sz="1550" b="0">
                <a:solidFill>
                  <a:srgbClr val="222222"/>
                </a:solidFill>
                <a:latin typeface="Calibri"/>
              </a:rPr>
              <a:t>Ứng dụng: đóng gói APK cài trực tiếp lên máy phụ huynh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983480"/>
            <a:ext cx="11155680" cy="123444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5138928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Điểm nổi bật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8640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Chi phí vận hành duy nhất: gói data SIM di động + phí hosting backend — toàn bộ hạ tầng nền (MQTT broker, database, bản đồ) đều dùng dịch vụ miễn phí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4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hus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354" y="219456"/>
            <a:ext cx="295421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4151C"/>
                </a:solidFill>
                <a:latin typeface="Calibri"/>
              </a:rPr>
              <a:t>06  KẾT LUẬN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C4151C"/>
                </a:solidFill>
                <a:latin typeface="Calibri"/>
              </a:rPr>
              <a:t>Kết luận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548640" cy="45720"/>
          </a:xfrm>
          <a:prstGeom prst="rect">
            <a:avLst/>
          </a:prstGeom>
          <a:solidFill>
            <a:srgbClr val="FFC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7299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HỆ THỐNG THEO DÕI VỊ TRÍ TRẺ EM THEO THỜI GIAN THỰC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72998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28800"/>
            <a:ext cx="5440680" cy="3291840"/>
          </a:xfrm>
          <a:prstGeom prst="roundRect">
            <a:avLst>
              <a:gd name="adj" fmla="val 45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64008" cy="329184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993392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22222"/>
                </a:solidFill>
                <a:latin typeface="Calibri"/>
              </a:rPr>
              <a:t>Kết quả đạt được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23160"/>
            <a:ext cx="493776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333333"/>
              </a:buClr>
              <a:buFont typeface="Calibri"/>
              <a:buChar char="—"/>
            </a:pPr>
            <a:r>
              <a:rPr sz="1450" b="0">
                <a:solidFill>
                  <a:srgbClr val="222222"/>
                </a:solidFill>
                <a:latin typeface="Calibri"/>
              </a:rPr>
              <a:t>Xây dựng hoàn chỉnh hệ thống 3 thành phần hoạt động đồng bộ</a:t>
            </a: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333333"/>
              </a:buClr>
              <a:buFont typeface="Calibri"/>
              <a:buChar char="—"/>
            </a:pPr>
            <a:r>
              <a:rPr sz="1450" b="0">
                <a:solidFill>
                  <a:srgbClr val="222222"/>
                </a:solidFill>
                <a:latin typeface="Calibri"/>
              </a:rPr>
              <a:t>Thiết bị hoạt động độc lập, không cần điện thoại của trẻ</a:t>
            </a: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333333"/>
              </a:buClr>
              <a:buFont typeface="Calibri"/>
              <a:buChar char="—"/>
            </a:pPr>
            <a:r>
              <a:rPr sz="1450" b="0">
                <a:solidFill>
                  <a:srgbClr val="222222"/>
                </a:solidFill>
                <a:latin typeface="Calibri"/>
              </a:rPr>
              <a:t>Theo dõi thời gian thực với độ trễ &lt; 2 giây</a:t>
            </a: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333333"/>
              </a:buClr>
              <a:buFont typeface="Calibri"/>
              <a:buChar char="—"/>
            </a:pPr>
            <a:r>
              <a:rPr sz="1450" b="0">
                <a:solidFill>
                  <a:srgbClr val="222222"/>
                </a:solidFill>
                <a:latin typeface="Calibri"/>
              </a:rPr>
              <a:t>Geofencing linh hoạt 2 chế độ, cảnh báo đa kênh</a:t>
            </a: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333333"/>
              </a:buClr>
              <a:buFont typeface="Calibri"/>
              <a:buChar char="—"/>
            </a:pPr>
            <a:r>
              <a:rPr sz="1450" b="0">
                <a:solidFill>
                  <a:srgbClr val="222222"/>
                </a:solidFill>
                <a:latin typeface="Calibri"/>
              </a:rPr>
              <a:t>Chi phí vận hành thấp nhờ dịch vụ miễn phí (EMQX, MongoDB Atlas, OSM, Telegram)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5440680" cy="3291840"/>
          </a:xfrm>
          <a:prstGeom prst="roundRect">
            <a:avLst>
              <a:gd name="adj" fmla="val 4500"/>
            </a:avLst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828800"/>
            <a:ext cx="64008" cy="329184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1993392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22222"/>
                </a:solidFill>
                <a:latin typeface="Calibri"/>
              </a:rPr>
              <a:t>Hạn chế còn tồn tại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23160"/>
            <a:ext cx="493776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595959"/>
              </a:buClr>
              <a:buFont typeface="Calibri"/>
              <a:buChar char="—"/>
            </a:pPr>
            <a:r>
              <a:rPr sz="1450" b="0">
                <a:solidFill>
                  <a:srgbClr val="222222"/>
                </a:solidFill>
                <a:latin typeface="Calibri"/>
              </a:rPr>
              <a:t>Chưa có thiết kế PCB tùy chỉnh — dùng module phát triển rời</a:t>
            </a: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595959"/>
              </a:buClr>
              <a:buFont typeface="Calibri"/>
              <a:buChar char="—"/>
            </a:pPr>
            <a:r>
              <a:rPr sz="1450" b="0">
                <a:solidFill>
                  <a:srgbClr val="222222"/>
                </a:solidFill>
                <a:latin typeface="Calibri"/>
              </a:rPr>
              <a:t>Xác thực JWT chưa có refresh token / thu hồi token</a:t>
            </a: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595959"/>
              </a:buClr>
              <a:buFont typeface="Calibri"/>
              <a:buChar char="—"/>
            </a:pPr>
            <a:r>
              <a:rPr sz="1450" b="0">
                <a:solidFill>
                  <a:srgbClr val="222222"/>
                </a:solidFill>
                <a:latin typeface="Calibri"/>
              </a:rPr>
              <a:t>Kênh MQTT chưa được mã hoá TLS</a:t>
            </a: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595959"/>
              </a:buClr>
              <a:buFont typeface="Calibri"/>
              <a:buChar char="—"/>
            </a:pPr>
            <a:r>
              <a:rPr sz="1450" b="0">
                <a:solidFill>
                  <a:srgbClr val="222222"/>
                </a:solidFill>
                <a:latin typeface="Calibri"/>
              </a:rPr>
              <a:t>Tính năng chia sẻ thiết bị đa phụ huynh: có DB, chưa hoàn thiện giao diện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4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hus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354" y="219456"/>
            <a:ext cx="295421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4151C"/>
                </a:solidFill>
                <a:latin typeface="Calibri"/>
              </a:rPr>
              <a:t>06  KẾT LUẬN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058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C4151C"/>
                </a:solidFill>
                <a:latin typeface="Calibri"/>
              </a:rPr>
              <a:t>Hướng phát triển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548640" cy="45720"/>
          </a:xfrm>
          <a:prstGeom prst="rect">
            <a:avLst/>
          </a:prstGeom>
          <a:solidFill>
            <a:srgbClr val="FFC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7299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HỆ THỐNG THEO DÕI VỊ TRÍ TRẺ EM THEO THỜI GIAN THỰC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72998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Calibri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20240"/>
            <a:ext cx="5440680" cy="3200400"/>
          </a:xfrm>
          <a:prstGeom prst="roundRect">
            <a:avLst>
              <a:gd name="adj" fmla="val 45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920240"/>
            <a:ext cx="64008" cy="32004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084832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22222"/>
                </a:solidFill>
                <a:latin typeface="Calibri"/>
              </a:rPr>
              <a:t>Phần cứng &amp; Firmware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14600"/>
            <a:ext cx="493776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333333"/>
              </a:buClr>
              <a:buFont typeface="Calibri"/>
              <a:buChar char="—"/>
            </a:pPr>
            <a:r>
              <a:rPr sz="1600" b="0">
                <a:solidFill>
                  <a:srgbClr val="222222"/>
                </a:solidFill>
                <a:latin typeface="Calibri"/>
              </a:rPr>
              <a:t>Thiết kế PCB tùy chỉnh và đóng gói sản phẩm nhỏ gọn, đeo được</a:t>
            </a: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333333"/>
              </a:buClr>
              <a:buFont typeface="Calibri"/>
              <a:buChar char="—"/>
            </a:pPr>
            <a:r>
              <a:rPr sz="1600" b="0">
                <a:solidFill>
                  <a:srgbClr val="222222"/>
                </a:solidFill>
                <a:latin typeface="Calibri"/>
              </a:rPr>
              <a:t>Chế độ ngủ sâu (deep sleep) &amp; module tiết kiệm điện NB-IoT/LTE-M</a:t>
            </a: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333333"/>
              </a:buClr>
              <a:buFont typeface="Calibri"/>
              <a:buChar char="—"/>
            </a:pPr>
            <a:r>
              <a:rPr sz="1600" b="0">
                <a:solidFill>
                  <a:srgbClr val="222222"/>
                </a:solidFill>
                <a:latin typeface="Calibri"/>
              </a:rPr>
              <a:t>Mở rộng đa thiết bị và phân quyền chia sẻ theo dõi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920240"/>
            <a:ext cx="5440680" cy="3200400"/>
          </a:xfrm>
          <a:prstGeom prst="roundRect">
            <a:avLst>
              <a:gd name="adj" fmla="val 4500"/>
            </a:avLst>
          </a:prstGeom>
          <a:solidFill>
            <a:srgbClr val="EA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920240"/>
            <a:ext cx="64008" cy="32004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2084832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22222"/>
                </a:solidFill>
                <a:latin typeface="Calibri"/>
              </a:rPr>
              <a:t>Phần mềm &amp; Bảo mật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14600"/>
            <a:ext cx="493776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595959"/>
              </a:buClr>
              <a:buFont typeface="Calibri"/>
              <a:buChar char="—"/>
            </a:pPr>
            <a:r>
              <a:rPr sz="1600" b="0">
                <a:solidFill>
                  <a:srgbClr val="222222"/>
                </a:solidFill>
                <a:latin typeface="Calibri"/>
              </a:rPr>
              <a:t>Phân tích hành vi bất thường từ dữ liệu chuỗi thời gian</a:t>
            </a: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595959"/>
              </a:buClr>
              <a:buFont typeface="Calibri"/>
              <a:buChar char="—"/>
            </a:pPr>
            <a:r>
              <a:rPr sz="1600" b="0">
                <a:solidFill>
                  <a:srgbClr val="222222"/>
                </a:solidFill>
                <a:latin typeface="Calibri"/>
              </a:rPr>
              <a:t>Chế độ hoạt động ngoại tuyến — lưu flash khi mất kết nối</a:t>
            </a:r>
          </a:p>
          <a:p>
            <a:pPr marL="0" indent="-201168">
              <a:lnSpc>
                <a:spcPct val="108000"/>
              </a:lnSpc>
              <a:spcAft>
                <a:spcPts val="500"/>
              </a:spcAft>
              <a:buClr>
                <a:srgbClr val="595959"/>
              </a:buClr>
              <a:buFont typeface="Calibri"/>
              <a:buChar char="—"/>
            </a:pPr>
            <a:r>
              <a:rPr sz="1600" b="0">
                <a:solidFill>
                  <a:srgbClr val="222222"/>
                </a:solidFill>
                <a:latin typeface="Calibri"/>
              </a:rPr>
              <a:t>Bảo mật nâng cao: refresh token, TLS cho MQTT, xác thực hai yếu tố (2FA)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A0D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C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hus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078" y="502920"/>
            <a:ext cx="527538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51460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XIN CẢM ƠN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3657600"/>
            <a:ext cx="1828800" cy="32004"/>
          </a:xfrm>
          <a:prstGeom prst="rect">
            <a:avLst/>
          </a:prstGeom>
          <a:solidFill>
            <a:srgbClr val="FFC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FFCB09"/>
                </a:solidFill>
                <a:latin typeface="Calibri"/>
              </a:rPr>
              <a:t>Câu hỏi &amp; Thảo luận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CA3B3"/>
                </a:solidFill>
                <a:latin typeface="Calibri"/>
              </a:rPr>
              <a:t>Nguyễn Đức Dương  ·  MSSV 20225122  ·  SOICT – Đại học Bách khoa Hà Nội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3208</Words>
  <Application>Microsoft Office PowerPoint</Application>
  <PresentationFormat>Widescreen</PresentationFormat>
  <Paragraphs>366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Nguyen Duc Duong 20225122</cp:lastModifiedBy>
  <cp:revision>2</cp:revision>
  <dcterms:created xsi:type="dcterms:W3CDTF">2013-01-27T09:14:16Z</dcterms:created>
  <dcterms:modified xsi:type="dcterms:W3CDTF">2026-07-05T07:43:55Z</dcterms:modified>
  <cp:category/>
</cp:coreProperties>
</file>